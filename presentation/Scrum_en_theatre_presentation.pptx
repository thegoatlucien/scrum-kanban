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Agile</c:v>
                </c:pt>
              </c:strCache>
            </c:strRef>
          </c:tx>
          <c:spPr>
            <a:solidFill>
              <a:srgbClr val="7FD1A0"/>
            </a:solidFill>
          </c:spPr>
          <c:cat>
            <c:strRef>
              <c:f>Sheet1!$A$2:$A$4</c:f>
              <c:strCache>
                <c:ptCount val="3"/>
                <c:pt idx="0">
                  <c:v>Réussis</c:v>
                </c:pt>
                <c:pt idx="1">
                  <c:v>En difficulté</c:v>
                </c:pt>
                <c:pt idx="2">
                  <c:v>Échoués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</c:v>
                </c:pt>
                <c:pt idx="1">
                  <c:v>52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Cascade</c:v>
                </c:pt>
              </c:strCache>
            </c:strRef>
          </c:tx>
          <c:spPr>
            <a:solidFill>
              <a:srgbClr val="F2A29C"/>
            </a:solidFill>
          </c:spPr>
          <c:cat>
            <c:strRef>
              <c:f>Sheet1!$A$2:$A$4</c:f>
              <c:strCache>
                <c:ptCount val="3"/>
                <c:pt idx="0">
                  <c:v>Réussis</c:v>
                </c:pt>
                <c:pt idx="1">
                  <c:v>En difficulté</c:v>
                </c:pt>
                <c:pt idx="2">
                  <c:v>Échoués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</c:v>
                </c:pt>
                <c:pt idx="1">
                  <c:v>60</c:v>
                </c:pt>
                <c:pt idx="2">
                  <c:v>29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F8FB0"/>
            </a:solidFill>
          </a:ln>
        </c:spPr>
        <c:txPr>
          <a:bodyPr/>
          <a:lstStyle/>
          <a:p>
            <a:pPr>
              <a:defRPr sz="13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présente mon projet Scrum en théâtre : d'abord la méthode, puis une mise en situation avec un assistant pédagogique, jouée sous forme de pièce.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Scrum est un cadre, pas une méthode détaillée : il fixe des rôles, des événements et des artefacts. Le cycle se répète à chaque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transparence permet l'inspection, l'inspection permet l'adaptation. Les cinq valeurs créent la confiance dans l'équipe.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Product Owner maximise la valeur, le Scrum Master est au service de l'équipe, les Developers produisent l'Increment.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Sprint contient les quatre autres événements. Les durées indiquées sont pour un Sprint d'un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Backlog, Sprint Backlog et Increment. Depuis 2020, chacun est lié à un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définitions complètes sont dans le guide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simule la gestion de projet d'un assistant pédagogique, sans le développer. L'équipe : une Product Owner, moi en Scrum Master, deux Developers, et une professeure comme partie prenante.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Product Owner classe les user stories avec MoSCoW. Le chatbot est en Won't : demandé, mais pas utile pour l'objectif de la première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carte est une user story. Elle avance de gauche à droite jusqu'à Terminé.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palier du burndown correspond au blocage vu au Daily Scrum. Le Gantt donne la vue d'ensemble des 6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Lucien : Bienvenue au Sprint Planning ! Sarah, quelles sont les priorités ?</a:t>
            </a:r>
          </a:p>
          <a:p>
            <a:r>
              <a:t>Mme Durand : Mes élèves voudraient un chatbot. Moi, je veux surtout savoir où ils bloquent.</a:t>
            </a:r>
          </a:p>
          <a:p>
            <a:r>
              <a:t>Sarah : Le chatbot attendra la version 2. On commence par le quiz et les exercices adaptés.</a:t>
            </a:r>
          </a:p>
          <a:p>
            <a:r>
              <a:t>Karim : Les exercices adaptés, c'est le gros morceau : 8 points.</a:t>
            </a:r>
          </a:p>
          <a:p>
            <a:r>
              <a:t>Julie : Avec la connexion et le quiz, ça fait 16 points. C'est faisable en 2 semaines.</a:t>
            </a:r>
          </a:p>
          <a:p>
            <a:r>
              <a:t>Lucien : Objectif du Sprint : l'élève passe un quiz et reçoit des exercices adaptés.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Lucien : Daily Scrum, 15 minutes. Qui commence ?</a:t>
            </a:r>
          </a:p>
          <a:p>
            <a:r>
              <a:t>Julie : Hier, j'ai fini l'écran de connexion. Aujourd'hui, je fais le quiz.</a:t>
            </a:r>
          </a:p>
          <a:p>
            <a:r>
              <a:t>Karim : Moi, je suis bloqué : il me manque des exercices classés par compétence.</a:t>
            </a:r>
          </a:p>
          <a:p>
            <a:r>
              <a:t>Lucien : Je m'en occupe, j'appelle Mme Durand ce matin.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Karim : Le modèle repère bien les erreurs sur les fractions.</a:t>
            </a:r>
          </a:p>
          <a:p>
            <a:r>
              <a:t>Julie : Je teste le quiz sur téléphone... le bouton Valider est caché !</a:t>
            </a:r>
          </a:p>
          <a:p>
            <a:r>
              <a:t>Karim : Alors ce n'est pas terminé. On corrige avant la Sprint Review.</a:t>
            </a:r>
          </a:p>
          <a:p>
            <a:r>
              <a:t>Julie : Corrigé, et les tests passent. Je déplace la carte dans Terminé.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 : Voici le prototype : le quiz et les premiers exercices adaptés.</a:t>
            </a:r>
          </a:p>
          <a:p>
            <a:r>
              <a:t>Julie : L'élève répond au quiz, puis l'outil lui propose 5 exercices sur ses points faibles.</a:t>
            </a:r>
          </a:p>
          <a:p>
            <a:r>
              <a:t>Mme Durand : C'est clair ! Mais j'aimerais voir les résultats de toute ma classe.</a:t>
            </a:r>
          </a:p>
          <a:p>
            <a:r>
              <a:t>Sarah : D'accord, je mets le tableau de bord en tête du backlog pour le Sprint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Lucien : Qu'est-ce qui a bien marché ? Qu'est-ce qu'on améliore ?</a:t>
            </a:r>
          </a:p>
          <a:p>
            <a:r>
              <a:t>Julie : Le Daily Scrum nous a fait gagner du temps.</a:t>
            </a:r>
          </a:p>
          <a:p>
            <a:r>
              <a:t>Karim : Mais on a découvert le manque d'exercices trop tard.</a:t>
            </a:r>
          </a:p>
          <a:p>
            <a:r>
              <a:t>Sarah : La prochaine fois, je vérifie les données avant le Sprint Planning.</a:t>
            </a:r>
          </a:p>
          <a:p>
            <a:r>
              <a:t>Lucien : Noté : c'est notre action d'amélioration pour le Sprint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 : Après 2 Sprints, MonTuteur IA est livré à la classe de Mme Durand.</a:t>
            </a:r>
          </a:p>
          <a:p>
            <a:r>
              <a:t>Mme Durand : En un mois, mes élèves ont gagné 12 points en moyenne au quiz final.</a:t>
            </a:r>
          </a:p>
          <a:p>
            <a:r>
              <a:t>Lucien : Et l'équipe a livré un produit utilisable à la fin de chaque Sprint.</a:t>
            </a:r>
          </a:p>
          <a:p>
            <a:r>
              <a:t>Sarah : Prochaine étape : la version 2... avec le chatbot 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Lancer la vidéo. Elle suit un Sprint complet, du Sprint Planning à la livraison.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 argumentaire pour les autres étudiants. Limite : Scrum demande de la discipline, et pour des tâches très courtes Kanban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Selon le CHAOS Report 2015 du Standish Group, 39 % des projets agiles réussissent contre 11 % en cascade, et 9 % échouent contre 29 %.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5.png"/><Relationship Id="rId7" Type="http://schemas.openxmlformats.org/officeDocument/2006/relationships/image" Target="../media/image30.png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FD3E6"/>
                </a:solidFill>
                <a:latin typeface="Arial"/>
              </a:rPr>
              <a:t>PROJET SCRUM EN THÉÂTRE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777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</a:rPr>
              <a:t>La méthode Scrum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CE6F0"/>
                </a:solidFill>
                <a:latin typeface="Arial"/>
              </a:rPr>
              <a:t>Guide, étude de cas et pièce de théâtre : MonTuteur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FD3E6"/>
                </a:solidFill>
                <a:latin typeface="Arial"/>
              </a:rPr>
              <a:t>Lucien Nzeutom · MSc IA &amp; Data · La Plateforme_ · octobre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18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" name="Sarah"/>
          <p:cNvGrpSpPr/>
          <p:nvPr/>
        </p:nvGrpSpPr>
        <p:grpSpPr>
          <a:xfrm>
            <a:off x="5992520" y="3560307"/>
            <a:ext cx="816558" cy="1834652"/>
            <a:chOff x="5992520" y="3560307"/>
            <a:chExt cx="816558" cy="1834652"/>
          </a:xfrm>
        </p:grpSpPr>
        <p:sp>
          <p:nvSpPr>
            <p:cNvPr id="8" name="Rounded Rectangle 7"/>
            <p:cNvSpPr/>
            <p:nvPr/>
          </p:nvSpPr>
          <p:spPr>
            <a:xfrm>
              <a:off x="6099194" y="3570732"/>
              <a:ext cx="603211" cy="619368"/>
            </a:xfrm>
            <a:prstGeom prst="roundRect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18377" y="491718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35547" y="491718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992520" y="4161434"/>
              <a:ext cx="138988" cy="625449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70090" y="4161434"/>
              <a:ext cx="138988" cy="625449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992520" y="4734763"/>
              <a:ext cx="138988" cy="138988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6670090" y="4734763"/>
              <a:ext cx="138988" cy="138988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105448" y="4091940"/>
              <a:ext cx="590702" cy="886053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39992" y="4071960"/>
              <a:ext cx="121615" cy="138988"/>
            </a:xfrm>
            <a:prstGeom prst="rect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6115351" y="3560307"/>
              <a:ext cx="570896" cy="430865"/>
            </a:xfrm>
            <a:prstGeom prst="ellipse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6131509" y="3666286"/>
              <a:ext cx="538581" cy="506266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6266154" y="384037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6180155" y="394461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6474637" y="384037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6534576" y="394461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Arc 22"/>
            <p:cNvSpPr/>
            <p:nvPr/>
          </p:nvSpPr>
          <p:spPr>
            <a:xfrm>
              <a:off x="6322618" y="3892491"/>
              <a:ext cx="156362" cy="138988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413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Lucien"/>
          <p:cNvGrpSpPr/>
          <p:nvPr/>
        </p:nvGrpSpPr>
        <p:grpSpPr>
          <a:xfrm>
            <a:off x="7181240" y="3560307"/>
            <a:ext cx="816558" cy="1834652"/>
            <a:chOff x="7181240" y="3560307"/>
            <a:chExt cx="816558" cy="1834652"/>
          </a:xfrm>
        </p:grpSpPr>
        <p:sp>
          <p:nvSpPr>
            <p:cNvPr id="25" name="Rounded Rectangle 24"/>
            <p:cNvSpPr/>
            <p:nvPr/>
          </p:nvSpPr>
          <p:spPr>
            <a:xfrm>
              <a:off x="7407097" y="491718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624267" y="491718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181240" y="4161434"/>
              <a:ext cx="138988" cy="625449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858810" y="4161434"/>
              <a:ext cx="138988" cy="625449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7181240" y="4734763"/>
              <a:ext cx="138988" cy="138988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858810" y="4734763"/>
              <a:ext cx="138988" cy="138988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7294168" y="4091940"/>
              <a:ext cx="590702" cy="886053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528712" y="4071960"/>
              <a:ext cx="121615" cy="138988"/>
            </a:xfrm>
            <a:prstGeom prst="rect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7304071" y="3560307"/>
              <a:ext cx="570896" cy="430865"/>
            </a:xfrm>
            <a:prstGeom prst="ellipse">
              <a:avLst/>
            </a:prstGeom>
            <a:solidFill>
              <a:srgbClr val="1E1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7320229" y="3666286"/>
              <a:ext cx="538581" cy="506266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7454874" y="384037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7368875" y="394461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7663357" y="384037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7723296" y="394461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Arc 38"/>
            <p:cNvSpPr/>
            <p:nvPr/>
          </p:nvSpPr>
          <p:spPr>
            <a:xfrm>
              <a:off x="7511338" y="3892491"/>
              <a:ext cx="156362" cy="138988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413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" name="Karim"/>
          <p:cNvGrpSpPr/>
          <p:nvPr/>
        </p:nvGrpSpPr>
        <p:grpSpPr>
          <a:xfrm>
            <a:off x="8369960" y="3527298"/>
            <a:ext cx="816558" cy="1867661"/>
            <a:chOff x="8369960" y="3527298"/>
            <a:chExt cx="816558" cy="1867661"/>
          </a:xfrm>
        </p:grpSpPr>
        <p:sp>
          <p:nvSpPr>
            <p:cNvPr id="41" name="Rounded Rectangle 40"/>
            <p:cNvSpPr/>
            <p:nvPr/>
          </p:nvSpPr>
          <p:spPr>
            <a:xfrm>
              <a:off x="8595817" y="491718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812987" y="491718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69960" y="4161434"/>
              <a:ext cx="138988" cy="625449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9047530" y="4161434"/>
              <a:ext cx="138988" cy="625449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8369960" y="4734763"/>
              <a:ext cx="138988" cy="138988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9047530" y="4734763"/>
              <a:ext cx="138988" cy="138988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482888" y="4091940"/>
              <a:ext cx="590702" cy="886053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717432" y="4071960"/>
              <a:ext cx="121615" cy="138988"/>
            </a:xfrm>
            <a:prstGeom prst="rect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8448141" y="3583762"/>
              <a:ext cx="208483" cy="208483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8561069" y="3555530"/>
              <a:ext cx="208483" cy="208483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8673998" y="3527298"/>
              <a:ext cx="208483" cy="208483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8786926" y="3555530"/>
              <a:ext cx="208483" cy="208483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8899855" y="3583762"/>
              <a:ext cx="208483" cy="208483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8508949" y="3666286"/>
              <a:ext cx="538581" cy="506266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8643594" y="384037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8557595" y="394461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8852077" y="384037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8912016" y="394461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Arc 58"/>
            <p:cNvSpPr/>
            <p:nvPr/>
          </p:nvSpPr>
          <p:spPr>
            <a:xfrm>
              <a:off x="8700058" y="3892491"/>
              <a:ext cx="156362" cy="138988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413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" name="Julie"/>
          <p:cNvGrpSpPr/>
          <p:nvPr/>
        </p:nvGrpSpPr>
        <p:grpSpPr>
          <a:xfrm>
            <a:off x="9558680" y="3560307"/>
            <a:ext cx="816558" cy="1834652"/>
            <a:chOff x="9558680" y="3560307"/>
            <a:chExt cx="816558" cy="1834652"/>
          </a:xfrm>
        </p:grpSpPr>
        <p:sp>
          <p:nvSpPr>
            <p:cNvPr id="61" name="Oval 60"/>
            <p:cNvSpPr/>
            <p:nvPr/>
          </p:nvSpPr>
          <p:spPr>
            <a:xfrm>
              <a:off x="10155463" y="3596792"/>
              <a:ext cx="173736" cy="364845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9784537" y="491718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10001707" y="491718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9558680" y="4161434"/>
              <a:ext cx="138988" cy="625449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10236250" y="4161434"/>
              <a:ext cx="138988" cy="625449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9558680" y="4734763"/>
              <a:ext cx="138988" cy="138988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0236250" y="4734763"/>
              <a:ext cx="138988" cy="138988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9671608" y="4091940"/>
              <a:ext cx="590702" cy="886053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906152" y="4071960"/>
              <a:ext cx="121615" cy="138988"/>
            </a:xfrm>
            <a:prstGeom prst="rect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9681511" y="3560307"/>
              <a:ext cx="570896" cy="430865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9697669" y="3666286"/>
              <a:ext cx="538581" cy="506266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9832314" y="384037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9746315" y="394461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10040797" y="384037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10100736" y="394461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Arc 75"/>
            <p:cNvSpPr/>
            <p:nvPr/>
          </p:nvSpPr>
          <p:spPr>
            <a:xfrm>
              <a:off x="9888778" y="3892491"/>
              <a:ext cx="156362" cy="138988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413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" name="Mme Durand"/>
          <p:cNvGrpSpPr/>
          <p:nvPr/>
        </p:nvGrpSpPr>
        <p:grpSpPr>
          <a:xfrm>
            <a:off x="10747400" y="3440430"/>
            <a:ext cx="816558" cy="1954529"/>
            <a:chOff x="10747400" y="3440430"/>
            <a:chExt cx="816558" cy="1954529"/>
          </a:xfrm>
        </p:grpSpPr>
        <p:sp>
          <p:nvSpPr>
            <p:cNvPr id="78" name="Oval 77"/>
            <p:cNvSpPr/>
            <p:nvPr/>
          </p:nvSpPr>
          <p:spPr>
            <a:xfrm>
              <a:off x="11034064" y="3440430"/>
              <a:ext cx="243230" cy="243230"/>
            </a:xfrm>
            <a:prstGeom prst="ellipse">
              <a:avLst/>
            </a:prstGeom>
            <a:solidFill>
              <a:srgbClr val="8A8A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10973257" y="491718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11190427" y="491718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10747400" y="4161434"/>
              <a:ext cx="138988" cy="625449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11424970" y="4161434"/>
              <a:ext cx="138988" cy="625449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0747400" y="4734763"/>
              <a:ext cx="138988" cy="138988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1424970" y="4734763"/>
              <a:ext cx="138988" cy="138988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10860328" y="4091940"/>
              <a:ext cx="590702" cy="886053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1094872" y="4071960"/>
              <a:ext cx="121615" cy="138988"/>
            </a:xfrm>
            <a:prstGeom prst="rect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0870231" y="3560307"/>
              <a:ext cx="570896" cy="430865"/>
            </a:xfrm>
            <a:prstGeom prst="ellipse">
              <a:avLst/>
            </a:prstGeom>
            <a:solidFill>
              <a:srgbClr val="8A8A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0886389" y="3666286"/>
              <a:ext cx="538581" cy="506266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1021034" y="384037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10935035" y="394461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11229517" y="384037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11289456" y="394461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10973257" y="3805623"/>
              <a:ext cx="156362" cy="156362"/>
            </a:xfrm>
            <a:prstGeom prst="ellipse">
              <a:avLst/>
            </a:prstGeom>
            <a:noFill/>
            <a:ln w="18097">
              <a:solidFill>
                <a:srgbClr val="2B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11181740" y="3805623"/>
              <a:ext cx="156362" cy="156362"/>
            </a:xfrm>
            <a:prstGeom prst="ellipse">
              <a:avLst/>
            </a:prstGeom>
            <a:noFill/>
            <a:ln w="18097">
              <a:solidFill>
                <a:srgbClr val="2B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Arc 94"/>
            <p:cNvSpPr/>
            <p:nvPr/>
          </p:nvSpPr>
          <p:spPr>
            <a:xfrm>
              <a:off x="11077498" y="3892491"/>
              <a:ext cx="156362" cy="138988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413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Arial"/>
              </a:rPr>
              <a:t>Scrum, c'est quoi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Arial"/>
              </a:rPr>
              <a:t>Un cadre de travail léger </a:t>
            </a:r>
            <a:r>
              <a:rPr sz="2000" b="0" i="0">
                <a:solidFill>
                  <a:srgbClr val="2B2B2B"/>
                </a:solidFill>
                <a:latin typeface="Arial"/>
              </a:rPr>
              <a:t>pour créer de la valeur sur des problèmes complexes, en avançant par petits cycles : les </a:t>
            </a:r>
            <a:r>
              <a:rPr sz="2000" b="1" i="0">
                <a:solidFill>
                  <a:srgbClr val="2B2B2B"/>
                </a:solidFill>
                <a:latin typeface="Arial"/>
              </a:rPr>
              <a:t>Sprints</a:t>
            </a:r>
            <a:r>
              <a:rPr sz="2000" b="0" i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Arial"/>
              </a:rPr>
              <a:t>1986 : article de Takeuchi et Nonaka (le rugby)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B6573"/>
                </a:solidFill>
                <a:latin typeface="Arial"/>
              </a:rPr>
              <a:t>1995 : Scrum présenté par Schwaber et Sutherland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B6573"/>
                </a:solidFill>
                <a:latin typeface="Arial"/>
              </a:rPr>
              <a:t>2001 : Manifeste Agile</a:t>
            </a:r>
          </a:p>
        </p:txBody>
      </p:sp>
      <p:sp>
        <p:nvSpPr>
          <p:cNvPr id="5" name="Oval 4"/>
          <p:cNvSpPr/>
          <p:nvPr/>
        </p:nvSpPr>
        <p:spPr>
          <a:xfrm>
            <a:off x="6766560" y="1874519"/>
            <a:ext cx="3657600" cy="3657600"/>
          </a:xfrm>
          <a:prstGeom prst="ellipse">
            <a:avLst/>
          </a:prstGeom>
          <a:noFill/>
          <a:ln w="381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83880" y="1463039"/>
            <a:ext cx="822960" cy="822960"/>
          </a:xfrm>
          <a:prstGeom prst="ellipse">
            <a:avLst/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ck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620" y="1668780"/>
            <a:ext cx="411480" cy="4114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0012680" y="3291839"/>
            <a:ext cx="822960" cy="8229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420" y="3497579"/>
            <a:ext cx="411480" cy="41148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8183880" y="5120640"/>
            <a:ext cx="822960" cy="822960"/>
          </a:xfrm>
          <a:prstGeom prst="ellipse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ncr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0" y="5326379"/>
            <a:ext cx="411480" cy="41148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6355080" y="3291839"/>
            <a:ext cx="822960" cy="822960"/>
          </a:xfrm>
          <a:prstGeom prst="ellipse">
            <a:avLst/>
          </a:prstGeom>
          <a:solidFill>
            <a:srgbClr val="E3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3497579"/>
            <a:ext cx="411480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0960" y="548639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Arial"/>
              </a:rPr>
              <a:t>Product Backlog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On classe le travail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3383279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Arial"/>
              </a:rPr>
              <a:t>Sprint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1 à 4 semaines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98932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Arial"/>
              </a:rPr>
              <a:t>Increment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Un résultat utilisable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83279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2B2B2B"/>
                </a:solidFill>
                <a:latin typeface="Arial"/>
              </a:rPr>
              <a:t>Review</a:t>
            </a:r>
          </a:p>
          <a:p>
            <a:pPr algn="r">
              <a:spcBef>
                <a:spcPts val="6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On inspecte, on adapte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4290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Arial"/>
              </a:rPr>
              <a:t>On recommence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Arial"/>
              </a:rPr>
              <a:t>3 piliers, 5 valeurs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474720" cy="219456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74519" y="1645920"/>
            <a:ext cx="822960" cy="8229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185166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6060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Arial"/>
              </a:rPr>
              <a:t>Transparence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B6573"/>
                </a:solidFill>
                <a:latin typeface="Arial"/>
              </a:rPr>
              <a:t>Tout le monde voit le travail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17320"/>
            <a:ext cx="3474720" cy="219456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23559" y="1645920"/>
            <a:ext cx="822960" cy="8229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299" y="1851660"/>
            <a:ext cx="411480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97679" y="26060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Arial"/>
              </a:rPr>
              <a:t>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30175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B6573"/>
                </a:solidFill>
                <a:latin typeface="Arial"/>
              </a:rPr>
              <a:t>On vérifie souvent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17320"/>
            <a:ext cx="3474720" cy="219456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599" y="1645920"/>
            <a:ext cx="822960" cy="822960"/>
          </a:xfrm>
          <a:prstGeom prst="ellipse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39" y="1851660"/>
            <a:ext cx="41148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46719" y="26060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Arial"/>
              </a:rPr>
              <a:t>Adaptation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0175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B6573"/>
                </a:solidFill>
                <a:latin typeface="Arial"/>
              </a:rPr>
              <a:t>On corrige vite</a:t>
            </a:r>
          </a:p>
        </p:txBody>
      </p:sp>
      <p:sp>
        <p:nvSpPr>
          <p:cNvPr id="18" name="Oval 17"/>
          <p:cNvSpPr/>
          <p:nvPr/>
        </p:nvSpPr>
        <p:spPr>
          <a:xfrm>
            <a:off x="1234440" y="4160520"/>
            <a:ext cx="685800" cy="685800"/>
          </a:xfrm>
          <a:prstGeom prst="ellipse">
            <a:avLst/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he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890" y="4331970"/>
            <a:ext cx="342900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49834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Arial"/>
              </a:rPr>
              <a:t>Engagement</a:t>
            </a:r>
          </a:p>
        </p:txBody>
      </p:sp>
      <p:sp>
        <p:nvSpPr>
          <p:cNvPr id="21" name="Oval 20"/>
          <p:cNvSpPr/>
          <p:nvPr/>
        </p:nvSpPr>
        <p:spPr>
          <a:xfrm>
            <a:off x="3474720" y="4160520"/>
            <a:ext cx="685800" cy="685800"/>
          </a:xfrm>
          <a:prstGeom prst="ellipse">
            <a:avLst/>
          </a:prstGeom>
          <a:solidFill>
            <a:srgbClr val="E3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oc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6170" y="4331970"/>
            <a:ext cx="3429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88920" y="49834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Arial"/>
              </a:rPr>
              <a:t>Focus</a:t>
            </a:r>
          </a:p>
        </p:txBody>
      </p:sp>
      <p:sp>
        <p:nvSpPr>
          <p:cNvPr id="24" name="Oval 23"/>
          <p:cNvSpPr/>
          <p:nvPr/>
        </p:nvSpPr>
        <p:spPr>
          <a:xfrm>
            <a:off x="5715000" y="4160520"/>
            <a:ext cx="685800" cy="685800"/>
          </a:xfrm>
          <a:prstGeom prst="ellipse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op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6450" y="4331970"/>
            <a:ext cx="342900" cy="3429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29200" y="49834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Arial"/>
              </a:rPr>
              <a:t>Ouverture</a:t>
            </a:r>
          </a:p>
        </p:txBody>
      </p:sp>
      <p:sp>
        <p:nvSpPr>
          <p:cNvPr id="27" name="Oval 26"/>
          <p:cNvSpPr/>
          <p:nvPr/>
        </p:nvSpPr>
        <p:spPr>
          <a:xfrm>
            <a:off x="7955279" y="4160520"/>
            <a:ext cx="685800" cy="6858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respe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6729" y="4331970"/>
            <a:ext cx="342900" cy="3429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69480" y="49834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Arial"/>
              </a:rPr>
              <a:t>Respect</a:t>
            </a:r>
          </a:p>
        </p:txBody>
      </p:sp>
      <p:sp>
        <p:nvSpPr>
          <p:cNvPr id="30" name="Oval 29"/>
          <p:cNvSpPr/>
          <p:nvPr/>
        </p:nvSpPr>
        <p:spPr>
          <a:xfrm>
            <a:off x="10195560" y="4160520"/>
            <a:ext cx="685800" cy="685800"/>
          </a:xfrm>
          <a:prstGeom prst="ellipse">
            <a:avLst/>
          </a:prstGeom>
          <a:solidFill>
            <a:srgbClr val="8E6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our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7010" y="4331970"/>
            <a:ext cx="342900" cy="3429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9760" y="49834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Arial"/>
              </a:rPr>
              <a:t>Courage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B6573"/>
                </a:solidFill>
                <a:latin typeface="Arial"/>
              </a:rPr>
              <a:t>Scrum repose sur l'empirisme : on décide à partir de ce qu'on observe.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Arial"/>
              </a:rPr>
              <a:t>L'équipe Scrum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573"/>
                </a:solidFill>
                <a:latin typeface="Arial"/>
              </a:rPr>
              <a:t>10 personnes au maximum, pas de hiérarchie, autogérée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474720" cy="45720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Sarah"/>
          <p:cNvGrpSpPr/>
          <p:nvPr/>
        </p:nvGrpSpPr>
        <p:grpSpPr>
          <a:xfrm>
            <a:off x="1877720" y="2234427"/>
            <a:ext cx="816558" cy="1834652"/>
            <a:chOff x="1877720" y="2234427"/>
            <a:chExt cx="816558" cy="1834652"/>
          </a:xfrm>
        </p:grpSpPr>
        <p:sp>
          <p:nvSpPr>
            <p:cNvPr id="6" name="Rounded Rectangle 5"/>
            <p:cNvSpPr/>
            <p:nvPr/>
          </p:nvSpPr>
          <p:spPr>
            <a:xfrm>
              <a:off x="1984394" y="2244852"/>
              <a:ext cx="603211" cy="619368"/>
            </a:xfrm>
            <a:prstGeom prst="roundRect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103577" y="359130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320747" y="359130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877720" y="2835554"/>
              <a:ext cx="138988" cy="625449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555290" y="2835554"/>
              <a:ext cx="138988" cy="625449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877720" y="3408883"/>
              <a:ext cx="138988" cy="138988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555290" y="3408883"/>
              <a:ext cx="138988" cy="138988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90648" y="2766060"/>
              <a:ext cx="590702" cy="886053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225192" y="2746080"/>
              <a:ext cx="121615" cy="138988"/>
            </a:xfrm>
            <a:prstGeom prst="rect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2000551" y="2234427"/>
              <a:ext cx="570896" cy="430865"/>
            </a:xfrm>
            <a:prstGeom prst="ellipse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2016709" y="2340406"/>
              <a:ext cx="538581" cy="506266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151354" y="251449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065355" y="261873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2359837" y="251449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2419776" y="261873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Arc 20"/>
            <p:cNvSpPr/>
            <p:nvPr/>
          </p:nvSpPr>
          <p:spPr>
            <a:xfrm>
              <a:off x="2207818" y="2566611"/>
              <a:ext cx="156362" cy="138988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413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822959" y="4343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8615A"/>
                </a:solidFill>
                <a:latin typeface="Arial"/>
              </a:rPr>
              <a:t>Product 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89204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Arial"/>
              </a:rPr>
              <a:t>Décide quoi faire en premier.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2B2B2B"/>
                </a:solidFill>
                <a:latin typeface="Arial"/>
              </a:rPr>
              <a:t>Gère le Product Backlog.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1783080"/>
            <a:ext cx="3474720" cy="45720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5" name="Lucien"/>
          <p:cNvGrpSpPr/>
          <p:nvPr/>
        </p:nvGrpSpPr>
        <p:grpSpPr>
          <a:xfrm>
            <a:off x="5626760" y="2234427"/>
            <a:ext cx="816558" cy="1834652"/>
            <a:chOff x="5626760" y="2234427"/>
            <a:chExt cx="816558" cy="1834652"/>
          </a:xfrm>
        </p:grpSpPr>
        <p:sp>
          <p:nvSpPr>
            <p:cNvPr id="26" name="Rounded Rectangle 25"/>
            <p:cNvSpPr/>
            <p:nvPr/>
          </p:nvSpPr>
          <p:spPr>
            <a:xfrm>
              <a:off x="5852617" y="359130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069787" y="359130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5626760" y="2835554"/>
              <a:ext cx="138988" cy="625449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304330" y="2835554"/>
              <a:ext cx="138988" cy="625449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5626760" y="3408883"/>
              <a:ext cx="138988" cy="138988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6304330" y="3408883"/>
              <a:ext cx="138988" cy="138988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5739688" y="2766060"/>
              <a:ext cx="590702" cy="886053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974232" y="2746080"/>
              <a:ext cx="121615" cy="138988"/>
            </a:xfrm>
            <a:prstGeom prst="rect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749591" y="2234427"/>
              <a:ext cx="570896" cy="430865"/>
            </a:xfrm>
            <a:prstGeom prst="ellipse">
              <a:avLst/>
            </a:prstGeom>
            <a:solidFill>
              <a:srgbClr val="1E1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5765749" y="2340406"/>
              <a:ext cx="538581" cy="506266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5900394" y="251449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5814395" y="261873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6108877" y="251449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6168816" y="261873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Arc 39"/>
            <p:cNvSpPr/>
            <p:nvPr/>
          </p:nvSpPr>
          <p:spPr>
            <a:xfrm>
              <a:off x="5956858" y="2566611"/>
              <a:ext cx="156362" cy="138988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413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571999" y="4343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Arial"/>
              </a:rPr>
              <a:t>Scrum Master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1999" y="489204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Arial"/>
              </a:rPr>
              <a:t>Fait respecter Scrum.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2B2B2B"/>
                </a:solidFill>
                <a:latin typeface="Arial"/>
              </a:rPr>
              <a:t>Lève les obstacles.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19" y="1783080"/>
            <a:ext cx="3474720" cy="45720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4" name="Karim"/>
          <p:cNvGrpSpPr/>
          <p:nvPr/>
        </p:nvGrpSpPr>
        <p:grpSpPr>
          <a:xfrm>
            <a:off x="9375800" y="2201418"/>
            <a:ext cx="816558" cy="1867661"/>
            <a:chOff x="9375800" y="2201418"/>
            <a:chExt cx="816558" cy="1867661"/>
          </a:xfrm>
        </p:grpSpPr>
        <p:sp>
          <p:nvSpPr>
            <p:cNvPr id="45" name="Rounded Rectangle 44"/>
            <p:cNvSpPr/>
            <p:nvPr/>
          </p:nvSpPr>
          <p:spPr>
            <a:xfrm>
              <a:off x="9601657" y="359130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818827" y="3591306"/>
              <a:ext cx="147675" cy="477773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9375800" y="2835554"/>
              <a:ext cx="138988" cy="625449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053370" y="2835554"/>
              <a:ext cx="138988" cy="625449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9375800" y="3408883"/>
              <a:ext cx="138988" cy="138988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10053370" y="3408883"/>
              <a:ext cx="138988" cy="138988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9488728" y="2766060"/>
              <a:ext cx="590702" cy="886053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9723272" y="2746080"/>
              <a:ext cx="121615" cy="138988"/>
            </a:xfrm>
            <a:prstGeom prst="rect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9453981" y="2257882"/>
              <a:ext cx="208483" cy="208483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9566909" y="2229650"/>
              <a:ext cx="208483" cy="208483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9679838" y="2201418"/>
              <a:ext cx="208483" cy="208483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9792766" y="2229650"/>
              <a:ext cx="208483" cy="208483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9905695" y="2257882"/>
              <a:ext cx="208483" cy="208483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9514789" y="2340406"/>
              <a:ext cx="538581" cy="506266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9649434" y="251449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9563435" y="261873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9857917" y="2514490"/>
              <a:ext cx="60807" cy="8686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9917856" y="2618731"/>
              <a:ext cx="86868" cy="60807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Arc 62"/>
            <p:cNvSpPr/>
            <p:nvPr/>
          </p:nvSpPr>
          <p:spPr>
            <a:xfrm>
              <a:off x="9705898" y="2566611"/>
              <a:ext cx="156362" cy="138988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413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8321040" y="4343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BA272"/>
                </a:solidFill>
                <a:latin typeface="Arial"/>
              </a:rPr>
              <a:t>Developers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489204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Arial"/>
              </a:rPr>
              <a:t>Réalisent le travail.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2B2B2B"/>
                </a:solidFill>
                <a:latin typeface="Arial"/>
              </a:rPr>
              <a:t>Livrent l'Increment.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Arial"/>
              </a:rPr>
              <a:t>Les événements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573"/>
                </a:solidFill>
                <a:latin typeface="Arial"/>
              </a:rPr>
              <a:t>Tous dans le Sprint, tous avec une durée maximale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1064240" cy="6400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SPRINT  ·  1 mois maximum, souvent 2 semaines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2606040" cy="32004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19" y="2926080"/>
            <a:ext cx="868680" cy="868680"/>
          </a:xfrm>
          <a:prstGeom prst="ellipse">
            <a:avLst/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89" y="3143250"/>
            <a:ext cx="434340" cy="4343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9319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Arial"/>
              </a:rPr>
              <a:t>Sprint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E8615A"/>
                </a:solidFill>
                <a:latin typeface="Arial"/>
              </a:rPr>
              <a:t>8 h max.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B6573"/>
                </a:solidFill>
                <a:latin typeface="Arial"/>
              </a:rPr>
              <a:t>Pourquoi, quoi, comment 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72968" y="4160520"/>
            <a:ext cx="192024" cy="274320"/>
          </a:xfrm>
          <a:prstGeom prst="rightArrow">
            <a:avLst/>
          </a:prstGeom>
          <a:solidFill>
            <a:srgbClr val="C9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2697480"/>
            <a:ext cx="2606040" cy="32004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51960" y="2926080"/>
            <a:ext cx="868680" cy="868680"/>
          </a:xfrm>
          <a:prstGeom prst="ellipse">
            <a:avLst/>
          </a:prstGeom>
          <a:solidFill>
            <a:srgbClr val="E3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130" y="3143250"/>
            <a:ext cx="434340" cy="4343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20440" y="39319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Arial"/>
              </a:rPr>
              <a:t>Daily Scrum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3434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E3A13B"/>
                </a:solidFill>
                <a:latin typeface="Arial"/>
              </a:rPr>
              <a:t>15 min / jour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80060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B6573"/>
                </a:solidFill>
                <a:latin typeface="Arial"/>
              </a:rPr>
              <a:t>Où on en est ? Un blocage ?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07608" y="4160520"/>
            <a:ext cx="192024" cy="274320"/>
          </a:xfrm>
          <a:prstGeom prst="rightArrow">
            <a:avLst/>
          </a:prstGeom>
          <a:solidFill>
            <a:srgbClr val="C9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697480"/>
            <a:ext cx="2606040" cy="32004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6600" y="2926080"/>
            <a:ext cx="868680" cy="868680"/>
          </a:xfrm>
          <a:prstGeom prst="ellipse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770" y="3143250"/>
            <a:ext cx="434340" cy="4343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55080" y="39319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Arial"/>
              </a:rPr>
              <a:t>Sprint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3434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BA272"/>
                </a:solidFill>
                <a:latin typeface="Arial"/>
              </a:rPr>
              <a:t>4 h max.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0060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B6573"/>
                </a:solidFill>
                <a:latin typeface="Arial"/>
              </a:rPr>
              <a:t>On montre le résultat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42248" y="4160520"/>
            <a:ext cx="192024" cy="274320"/>
          </a:xfrm>
          <a:prstGeom prst="rightArrow">
            <a:avLst/>
          </a:prstGeom>
          <a:solidFill>
            <a:srgbClr val="C9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52560" y="2697480"/>
            <a:ext cx="2606040" cy="32004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21240" y="2926080"/>
            <a:ext cx="868680" cy="868680"/>
          </a:xfrm>
          <a:prstGeom prst="ellipse">
            <a:avLst/>
          </a:prstGeom>
          <a:solidFill>
            <a:srgbClr val="8E6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et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8410" y="3143250"/>
            <a:ext cx="434340" cy="4343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89720" y="39319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Arial"/>
              </a:rPr>
              <a:t>Retrospective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3434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8E6CC9"/>
                </a:solidFill>
                <a:latin typeface="Arial"/>
              </a:rPr>
              <a:t>3 h max.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480060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B6573"/>
                </a:solidFill>
                <a:latin typeface="Arial"/>
              </a:rPr>
              <a:t>On améliore notre façon de travailler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Arial"/>
              </a:rPr>
              <a:t>Les artefacts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573"/>
                </a:solidFill>
                <a:latin typeface="Arial"/>
              </a:rPr>
              <a:t>Chacun a un engagement qui sert de repère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474720" cy="420624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2057400"/>
            <a:ext cx="914400" cy="914400"/>
          </a:xfrm>
          <a:prstGeom prst="ellipse">
            <a:avLst/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ck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8600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2004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B2B2B"/>
                </a:solidFill>
                <a:latin typeface="Arial"/>
              </a:rPr>
              <a:t>Product Backlog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39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5B6573"/>
                </a:solidFill>
                <a:latin typeface="Arial"/>
              </a:rPr>
              <a:t>La liste ordonnée de tout ce qu'il faut faire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983480"/>
            <a:ext cx="2651760" cy="548640"/>
          </a:xfrm>
          <a:prstGeom prst="roundRect">
            <a:avLst/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Objectif de Produit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83080"/>
            <a:ext cx="3474720" cy="420624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77840" y="2057400"/>
            <a:ext cx="914400" cy="9144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print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28600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6279" y="32004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B2B2B"/>
                </a:solidFill>
                <a:latin typeface="Arial"/>
              </a:rPr>
              <a:t>Sprint Backlog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749039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5B6573"/>
                </a:solidFill>
                <a:latin typeface="Arial"/>
              </a:rPr>
              <a:t>Le travail choisi pour le Sprint et le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4983480"/>
            <a:ext cx="2651760" cy="5486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Objectif de Sprint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783080"/>
            <a:ext cx="3474720" cy="420624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0" y="2057400"/>
            <a:ext cx="914400" cy="914400"/>
          </a:xfrm>
          <a:prstGeom prst="ellipse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ncr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228600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75319" y="32004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B2B2B"/>
                </a:solidFill>
                <a:latin typeface="Arial"/>
              </a:rPr>
              <a:t>Increment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749039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5B6573"/>
                </a:solidFill>
                <a:latin typeface="Arial"/>
              </a:rPr>
              <a:t>Le résultat utilisable à la fin du Sprint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199" y="4983480"/>
            <a:ext cx="2651760" cy="548640"/>
          </a:xfrm>
          <a:prstGeom prst="roundRect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Definition of Done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Arial"/>
              </a:rPr>
              <a:t>Les mots clés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474720" cy="210312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737360"/>
            <a:ext cx="777240" cy="777240"/>
          </a:xfrm>
          <a:prstGeom prst="ellipse">
            <a:avLst/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69" y="1931670"/>
            <a:ext cx="388620" cy="388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83080" y="1847088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Arial"/>
              </a:rPr>
              <a:t>User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Arial"/>
              </a:rPr>
              <a:t>« En tant que…, je veux… afin de…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474720" cy="210312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1737360"/>
            <a:ext cx="777240" cy="777240"/>
          </a:xfrm>
          <a:prstGeom prst="ellipse">
            <a:avLst/>
          </a:prstGeom>
          <a:solidFill>
            <a:srgbClr val="E3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309" y="1931670"/>
            <a:ext cx="388620" cy="3886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32119" y="1847088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Arial"/>
              </a:rPr>
              <a:t>Story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69748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Arial"/>
              </a:rPr>
              <a:t>Estimation relative de l'effort (1, 2, 3, 5, 8…)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63040"/>
            <a:ext cx="3474720" cy="210312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737360"/>
            <a:ext cx="777240" cy="777240"/>
          </a:xfrm>
          <a:prstGeom prst="ellipse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350" y="1931670"/>
            <a:ext cx="388620" cy="3886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81159" y="1847088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Arial"/>
              </a:rPr>
              <a:t>Definition of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Arial"/>
              </a:rPr>
              <a:t>Les critères pour dire « c'est terminé 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3886200"/>
            <a:ext cx="3474720" cy="210312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97479" y="4160520"/>
            <a:ext cx="777240" cy="77724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1789" y="4354830"/>
            <a:ext cx="388620" cy="3886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0" y="4270248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Arial"/>
              </a:rPr>
              <a:t>Burndown chart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79" y="51206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Arial"/>
              </a:rPr>
              <a:t>Le travail restant, jour après jour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199" y="3886200"/>
            <a:ext cx="3474720" cy="210312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19" y="4160520"/>
            <a:ext cx="777240" cy="777240"/>
          </a:xfrm>
          <a:prstGeom prst="ellipse">
            <a:avLst/>
          </a:prstGeom>
          <a:solidFill>
            <a:srgbClr val="8E6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anb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0829" y="4354830"/>
            <a:ext cx="388620" cy="3886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06640" y="4270248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Arial"/>
              </a:rPr>
              <a:t>Kanban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19" y="51206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Arial"/>
              </a:rPr>
              <a:t>Tableau visuel : à faire, en cours, terminé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FD3E6"/>
                </a:solidFill>
                <a:latin typeface="Arial"/>
              </a:rPr>
              <a:t>MISE EN 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MonTuteur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DCE6F0"/>
                </a:solidFill>
                <a:latin typeface="Arial"/>
              </a:rPr>
              <a:t>Un assistant qui repère les difficultés des élèves de 4e en maths et leur propose des exercices adaptés.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685800"/>
            <a:ext cx="1097280" cy="1097280"/>
          </a:xfrm>
          <a:prstGeom prst="ellipse">
            <a:avLst/>
          </a:prstGeom>
          <a:solidFill>
            <a:srgbClr val="E3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960120"/>
            <a:ext cx="54864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3246120"/>
            <a:ext cx="12191695" cy="3611880"/>
          </a:xfrm>
          <a:prstGeom prst="rect">
            <a:avLst/>
          </a:prstGeom>
          <a:solidFill>
            <a:srgbClr val="18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Sarah"/>
          <p:cNvGrpSpPr/>
          <p:nvPr/>
        </p:nvGrpSpPr>
        <p:grpSpPr>
          <a:xfrm>
            <a:off x="914400" y="4012387"/>
            <a:ext cx="1371600" cy="2443277"/>
            <a:chOff x="914400" y="4012387"/>
            <a:chExt cx="1371600" cy="2443277"/>
          </a:xfrm>
        </p:grpSpPr>
        <p:sp>
          <p:nvSpPr>
            <p:cNvPr id="9" name="Rounded Rectangle 8"/>
            <p:cNvSpPr/>
            <p:nvPr/>
          </p:nvSpPr>
          <p:spPr>
            <a:xfrm>
              <a:off x="1282720" y="4023360"/>
              <a:ext cx="634959" cy="651967"/>
            </a:xfrm>
            <a:prstGeom prst="roundRect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408176" y="5440680"/>
              <a:ext cx="155448" cy="502920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636776" y="5440680"/>
              <a:ext cx="155448" cy="502920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70432" y="4645152"/>
              <a:ext cx="146304" cy="658368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883664" y="4645152"/>
              <a:ext cx="146304" cy="658368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1170432" y="5248656"/>
              <a:ext cx="146304" cy="146304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883664" y="5248656"/>
              <a:ext cx="146304" cy="146304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289304" y="4572000"/>
              <a:ext cx="621792" cy="932688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536192" y="4550968"/>
              <a:ext cx="128016" cy="146304"/>
            </a:xfrm>
            <a:prstGeom prst="rect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1299728" y="4012387"/>
              <a:ext cx="600943" cy="453542"/>
            </a:xfrm>
            <a:prstGeom prst="ellipse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1316736" y="4123944"/>
              <a:ext cx="566928" cy="532912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1458468" y="4307189"/>
              <a:ext cx="64008" cy="9144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1367942" y="4416917"/>
              <a:ext cx="91440" cy="640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1677924" y="4307189"/>
              <a:ext cx="64008" cy="9144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1741017" y="4416917"/>
              <a:ext cx="91440" cy="640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Arc 23"/>
            <p:cNvSpPr/>
            <p:nvPr/>
          </p:nvSpPr>
          <p:spPr>
            <a:xfrm>
              <a:off x="1517904" y="4362053"/>
              <a:ext cx="164592" cy="146304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540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914400" y="6016752"/>
              <a:ext cx="1371600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00" b="1">
                  <a:solidFill>
                    <a:srgbClr val="2B2B2B"/>
                  </a:solidFill>
                  <a:latin typeface="Arial"/>
                </a:rPr>
                <a:t>Sarah</a:t>
              </a:r>
            </a:p>
            <a:p>
              <a:pPr algn="ctr"/>
              <a:r>
                <a:rPr sz="850">
                  <a:solidFill>
                    <a:srgbClr val="5B6573"/>
                  </a:solidFill>
                  <a:latin typeface="Arial"/>
                </a:rPr>
                <a:t>Product Owner</a:t>
              </a:r>
            </a:p>
          </p:txBody>
        </p:sp>
      </p:grpSp>
      <p:grpSp>
        <p:nvGrpSpPr>
          <p:cNvPr id="26" name="Lucien"/>
          <p:cNvGrpSpPr/>
          <p:nvPr/>
        </p:nvGrpSpPr>
        <p:grpSpPr>
          <a:xfrm>
            <a:off x="3154680" y="4012387"/>
            <a:ext cx="1371600" cy="2443277"/>
            <a:chOff x="3154680" y="4012387"/>
            <a:chExt cx="1371600" cy="2443277"/>
          </a:xfrm>
        </p:grpSpPr>
        <p:sp>
          <p:nvSpPr>
            <p:cNvPr id="27" name="Rounded Rectangle 26"/>
            <p:cNvSpPr/>
            <p:nvPr/>
          </p:nvSpPr>
          <p:spPr>
            <a:xfrm>
              <a:off x="3648456" y="5440680"/>
              <a:ext cx="155448" cy="502920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877056" y="5440680"/>
              <a:ext cx="155448" cy="502920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410712" y="4645152"/>
              <a:ext cx="146304" cy="658368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123944" y="4645152"/>
              <a:ext cx="146304" cy="658368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3410712" y="5248656"/>
              <a:ext cx="146304" cy="146304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4123944" y="5248656"/>
              <a:ext cx="146304" cy="146304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529584" y="4572000"/>
              <a:ext cx="621792" cy="932688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776472" y="4550968"/>
              <a:ext cx="128016" cy="146304"/>
            </a:xfrm>
            <a:prstGeom prst="rect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3540008" y="4012387"/>
              <a:ext cx="600943" cy="453542"/>
            </a:xfrm>
            <a:prstGeom prst="ellipse">
              <a:avLst/>
            </a:prstGeom>
            <a:solidFill>
              <a:srgbClr val="1E1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3557016" y="4123944"/>
              <a:ext cx="566928" cy="532912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3698748" y="4307189"/>
              <a:ext cx="64008" cy="9144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3608222" y="4416917"/>
              <a:ext cx="91440" cy="640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3918204" y="4307189"/>
              <a:ext cx="64008" cy="9144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3981297" y="4416917"/>
              <a:ext cx="91440" cy="640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Arc 40"/>
            <p:cNvSpPr/>
            <p:nvPr/>
          </p:nvSpPr>
          <p:spPr>
            <a:xfrm>
              <a:off x="3758184" y="4362053"/>
              <a:ext cx="164592" cy="146304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540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3154680" y="6016752"/>
              <a:ext cx="1371600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00" b="1">
                  <a:solidFill>
                    <a:srgbClr val="2B2B2B"/>
                  </a:solidFill>
                  <a:latin typeface="Arial"/>
                </a:rPr>
                <a:t>Lucien</a:t>
              </a:r>
            </a:p>
            <a:p>
              <a:pPr algn="ctr"/>
              <a:r>
                <a:rPr sz="850">
                  <a:solidFill>
                    <a:srgbClr val="5B6573"/>
                  </a:solidFill>
                  <a:latin typeface="Arial"/>
                </a:rPr>
                <a:t>Scrum Master</a:t>
              </a:r>
            </a:p>
          </p:txBody>
        </p:sp>
      </p:grpSp>
      <p:grpSp>
        <p:nvGrpSpPr>
          <p:cNvPr id="43" name="Karim"/>
          <p:cNvGrpSpPr/>
          <p:nvPr/>
        </p:nvGrpSpPr>
        <p:grpSpPr>
          <a:xfrm>
            <a:off x="5394960" y="3977640"/>
            <a:ext cx="1371600" cy="2478024"/>
            <a:chOff x="5394960" y="3977640"/>
            <a:chExt cx="1371600" cy="2478024"/>
          </a:xfrm>
        </p:grpSpPr>
        <p:sp>
          <p:nvSpPr>
            <p:cNvPr id="44" name="Rounded Rectangle 43"/>
            <p:cNvSpPr/>
            <p:nvPr/>
          </p:nvSpPr>
          <p:spPr>
            <a:xfrm>
              <a:off x="5888736" y="5440680"/>
              <a:ext cx="155448" cy="502920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6117336" y="5440680"/>
              <a:ext cx="155448" cy="502920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5650992" y="4645152"/>
              <a:ext cx="146304" cy="658368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364224" y="4645152"/>
              <a:ext cx="146304" cy="658368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5650992" y="5248656"/>
              <a:ext cx="146304" cy="146304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6364224" y="5248656"/>
              <a:ext cx="146304" cy="146304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5769864" y="4572000"/>
              <a:ext cx="621792" cy="932688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016752" y="4550968"/>
              <a:ext cx="128016" cy="146304"/>
            </a:xfrm>
            <a:prstGeom prst="rect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5733288" y="4037076"/>
              <a:ext cx="219456" cy="219456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5852160" y="4007358"/>
              <a:ext cx="219456" cy="219456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5971032" y="3977640"/>
              <a:ext cx="219456" cy="219456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6089904" y="4007358"/>
              <a:ext cx="219456" cy="219456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6208776" y="4037076"/>
              <a:ext cx="219456" cy="219456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5797296" y="4123944"/>
              <a:ext cx="566928" cy="532912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5939028" y="4307189"/>
              <a:ext cx="64008" cy="9144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5848502" y="4416917"/>
              <a:ext cx="91440" cy="640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6158484" y="4307189"/>
              <a:ext cx="64008" cy="9144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6221577" y="4416917"/>
              <a:ext cx="91440" cy="640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Arc 61"/>
            <p:cNvSpPr/>
            <p:nvPr/>
          </p:nvSpPr>
          <p:spPr>
            <a:xfrm>
              <a:off x="5998464" y="4362053"/>
              <a:ext cx="164592" cy="146304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540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5394960" y="6016752"/>
              <a:ext cx="1371600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00" b="1">
                  <a:solidFill>
                    <a:srgbClr val="2B2B2B"/>
                  </a:solidFill>
                  <a:latin typeface="Arial"/>
                </a:rPr>
                <a:t>Karim</a:t>
              </a:r>
            </a:p>
            <a:p>
              <a:pPr algn="ctr"/>
              <a:r>
                <a:rPr sz="850">
                  <a:solidFill>
                    <a:srgbClr val="5B6573"/>
                  </a:solidFill>
                  <a:latin typeface="Arial"/>
                </a:rPr>
                <a:t>Developer (IA)</a:t>
              </a:r>
            </a:p>
          </p:txBody>
        </p:sp>
      </p:grpSp>
      <p:grpSp>
        <p:nvGrpSpPr>
          <p:cNvPr id="64" name="Julie"/>
          <p:cNvGrpSpPr/>
          <p:nvPr/>
        </p:nvGrpSpPr>
        <p:grpSpPr>
          <a:xfrm>
            <a:off x="7635240" y="4012387"/>
            <a:ext cx="1371600" cy="2443277"/>
            <a:chOff x="7635240" y="4012387"/>
            <a:chExt cx="1371600" cy="2443277"/>
          </a:xfrm>
        </p:grpSpPr>
        <p:sp>
          <p:nvSpPr>
            <p:cNvPr id="65" name="Oval 64"/>
            <p:cNvSpPr/>
            <p:nvPr/>
          </p:nvSpPr>
          <p:spPr>
            <a:xfrm>
              <a:off x="8519464" y="4050792"/>
              <a:ext cx="182880" cy="384048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8129016" y="5440680"/>
              <a:ext cx="155448" cy="502920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8357616" y="5440680"/>
              <a:ext cx="155448" cy="502920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7891272" y="4645152"/>
              <a:ext cx="146304" cy="658368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8604504" y="4645152"/>
              <a:ext cx="146304" cy="658368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7891272" y="5248656"/>
              <a:ext cx="146304" cy="146304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8604504" y="5248656"/>
              <a:ext cx="146304" cy="146304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8010144" y="4572000"/>
              <a:ext cx="621792" cy="932688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8257032" y="4550968"/>
              <a:ext cx="128016" cy="146304"/>
            </a:xfrm>
            <a:prstGeom prst="rect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8020568" y="4012387"/>
              <a:ext cx="600943" cy="453542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037576" y="4123944"/>
              <a:ext cx="566928" cy="532912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8179308" y="4307189"/>
              <a:ext cx="64008" cy="9144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8088782" y="4416917"/>
              <a:ext cx="91440" cy="640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8398764" y="4307189"/>
              <a:ext cx="64008" cy="9144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461857" y="4416917"/>
              <a:ext cx="91440" cy="640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Arc 79"/>
            <p:cNvSpPr/>
            <p:nvPr/>
          </p:nvSpPr>
          <p:spPr>
            <a:xfrm>
              <a:off x="8238744" y="4362053"/>
              <a:ext cx="164592" cy="146304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540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7635240" y="6016752"/>
              <a:ext cx="1371600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00" b="1">
                  <a:solidFill>
                    <a:srgbClr val="2B2B2B"/>
                  </a:solidFill>
                  <a:latin typeface="Arial"/>
                </a:rPr>
                <a:t>Julie</a:t>
              </a:r>
            </a:p>
            <a:p>
              <a:pPr algn="ctr"/>
              <a:r>
                <a:rPr sz="850">
                  <a:solidFill>
                    <a:srgbClr val="5B6573"/>
                  </a:solidFill>
                  <a:latin typeface="Arial"/>
                </a:rPr>
                <a:t>Developer (appli)</a:t>
              </a:r>
            </a:p>
          </p:txBody>
        </p:sp>
      </p:grpSp>
      <p:grpSp>
        <p:nvGrpSpPr>
          <p:cNvPr id="82" name="Mme Durand"/>
          <p:cNvGrpSpPr/>
          <p:nvPr/>
        </p:nvGrpSpPr>
        <p:grpSpPr>
          <a:xfrm>
            <a:off x="9875520" y="3886200"/>
            <a:ext cx="1371600" cy="2569464"/>
            <a:chOff x="9875520" y="3886200"/>
            <a:chExt cx="1371600" cy="2569464"/>
          </a:xfrm>
        </p:grpSpPr>
        <p:sp>
          <p:nvSpPr>
            <p:cNvPr id="83" name="Oval 82"/>
            <p:cNvSpPr/>
            <p:nvPr/>
          </p:nvSpPr>
          <p:spPr>
            <a:xfrm>
              <a:off x="10433304" y="3886200"/>
              <a:ext cx="256032" cy="256032"/>
            </a:xfrm>
            <a:prstGeom prst="ellipse">
              <a:avLst/>
            </a:prstGeom>
            <a:solidFill>
              <a:srgbClr val="8A8A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10369296" y="5440680"/>
              <a:ext cx="155448" cy="502920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10597896" y="5440680"/>
              <a:ext cx="155448" cy="502920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ounded Rectangle 85"/>
            <p:cNvSpPr/>
            <p:nvPr/>
          </p:nvSpPr>
          <p:spPr>
            <a:xfrm>
              <a:off x="10131552" y="4645152"/>
              <a:ext cx="146304" cy="658368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10844784" y="4645152"/>
              <a:ext cx="146304" cy="658368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0131552" y="5248656"/>
              <a:ext cx="146304" cy="146304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0844784" y="5248656"/>
              <a:ext cx="146304" cy="146304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10250424" y="4572000"/>
              <a:ext cx="621792" cy="932688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0497312" y="4550968"/>
              <a:ext cx="128016" cy="146304"/>
            </a:xfrm>
            <a:prstGeom prst="rect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10260848" y="4012387"/>
              <a:ext cx="600943" cy="453542"/>
            </a:xfrm>
            <a:prstGeom prst="ellipse">
              <a:avLst/>
            </a:prstGeom>
            <a:solidFill>
              <a:srgbClr val="8A8A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10277856" y="4123944"/>
              <a:ext cx="566928" cy="532912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10419588" y="4307189"/>
              <a:ext cx="64008" cy="9144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10329062" y="4416917"/>
              <a:ext cx="91440" cy="640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10639044" y="4307189"/>
              <a:ext cx="64008" cy="9144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10702137" y="4416917"/>
              <a:ext cx="91440" cy="640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10369296" y="4270613"/>
              <a:ext cx="164592" cy="164592"/>
            </a:xfrm>
            <a:prstGeom prst="ellipse">
              <a:avLst/>
            </a:prstGeom>
            <a:noFill/>
            <a:ln w="19050">
              <a:solidFill>
                <a:srgbClr val="2B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10588752" y="4270613"/>
              <a:ext cx="164592" cy="164592"/>
            </a:xfrm>
            <a:prstGeom prst="ellipse">
              <a:avLst/>
            </a:prstGeom>
            <a:noFill/>
            <a:ln w="19050">
              <a:solidFill>
                <a:srgbClr val="2B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Arc 99"/>
            <p:cNvSpPr/>
            <p:nvPr/>
          </p:nvSpPr>
          <p:spPr>
            <a:xfrm>
              <a:off x="10479024" y="4362053"/>
              <a:ext cx="164592" cy="146304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540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9875520" y="6016752"/>
              <a:ext cx="1371600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00" b="1">
                  <a:solidFill>
                    <a:srgbClr val="2B2B2B"/>
                  </a:solidFill>
                  <a:latin typeface="Arial"/>
                </a:rPr>
                <a:t>Mme Durand</a:t>
              </a:r>
            </a:p>
            <a:p>
              <a:pPr algn="ctr"/>
              <a:r>
                <a:rPr sz="850">
                  <a:solidFill>
                    <a:srgbClr val="5B6573"/>
                  </a:solidFill>
                  <a:latin typeface="Arial"/>
                </a:rPr>
                <a:t>Professeure (partie prenante)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Arial"/>
              </a:rPr>
              <a:t>Phases et Product Backlog</a:t>
            </a:r>
          </a:p>
        </p:txBody>
      </p:sp>
      <p:sp>
        <p:nvSpPr>
          <p:cNvPr id="3" name="Pentagon 2"/>
          <p:cNvSpPr/>
          <p:nvPr/>
        </p:nvSpPr>
        <p:spPr>
          <a:xfrm>
            <a:off x="548640" y="1325880"/>
            <a:ext cx="2743200" cy="777240"/>
          </a:xfrm>
          <a:prstGeom prst="homePlate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Sprint 0 – Cadrage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573"/>
                </a:solidFill>
                <a:latin typeface="Arial"/>
              </a:rPr>
              <a:t>Semaine 1</a:t>
            </a:r>
          </a:p>
        </p:txBody>
      </p:sp>
      <p:sp>
        <p:nvSpPr>
          <p:cNvPr id="5" name="Chevron 4"/>
          <p:cNvSpPr/>
          <p:nvPr/>
        </p:nvSpPr>
        <p:spPr>
          <a:xfrm>
            <a:off x="3383280" y="1325880"/>
            <a:ext cx="2743200" cy="77724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Sprint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2194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573"/>
                </a:solidFill>
                <a:latin typeface="Arial"/>
              </a:rPr>
              <a:t>Semaines 2-3</a:t>
            </a:r>
          </a:p>
        </p:txBody>
      </p:sp>
      <p:sp>
        <p:nvSpPr>
          <p:cNvPr id="7" name="Chevron 6"/>
          <p:cNvSpPr/>
          <p:nvPr/>
        </p:nvSpPr>
        <p:spPr>
          <a:xfrm>
            <a:off x="6217920" y="1325880"/>
            <a:ext cx="2743200" cy="77724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573"/>
                </a:solidFill>
                <a:latin typeface="Arial"/>
              </a:rPr>
              <a:t>Semaines 4-5</a:t>
            </a:r>
          </a:p>
        </p:txBody>
      </p:sp>
      <p:sp>
        <p:nvSpPr>
          <p:cNvPr id="9" name="Chevron 8"/>
          <p:cNvSpPr/>
          <p:nvPr/>
        </p:nvSpPr>
        <p:spPr>
          <a:xfrm>
            <a:off x="9052560" y="1325880"/>
            <a:ext cx="2743200" cy="777240"/>
          </a:xfrm>
          <a:prstGeom prst="chevron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Livraison et évaluation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2194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573"/>
                </a:solidFill>
                <a:latin typeface="Arial"/>
              </a:rPr>
              <a:t>Semaine 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74320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/>
                <a:gridCol w="1645920"/>
                <a:gridCol w="1280160"/>
                <a:gridCol w="2011680"/>
              </a:tblGrid>
              <a:tr h="4457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User story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Priorité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Sprint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US1 · Connexion avec un code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615A"/>
                          </a:solidFill>
                          <a:latin typeface="Arial"/>
                        </a:rPr>
                        <a:t>Must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Sprint 1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US2 · Quiz de diagnostic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615A"/>
                          </a:solidFill>
                          <a:latin typeface="Arial"/>
                        </a:rPr>
                        <a:t>Must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Sprint 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US3 · Exercices adaptés (IA)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615A"/>
                          </a:solidFill>
                          <a:latin typeface="Arial"/>
                        </a:rPr>
                        <a:t>Must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Sprint 1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US4 · Tableau de bord prof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615A"/>
                          </a:solidFill>
                          <a:latin typeface="Arial"/>
                        </a:rPr>
                        <a:t>Must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Sprint 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US5 · Indice en cas d'erreur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3A13B"/>
                          </a:solidFill>
                          <a:latin typeface="Arial"/>
                        </a:rPr>
                        <a:t>Should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Sprint 2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US6 · Résumé pour les parents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A272"/>
                          </a:solidFill>
                          <a:latin typeface="Arial"/>
                        </a:rPr>
                        <a:t>Could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Sprint 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US7 · Chatbot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A5B1"/>
                          </a:solidFill>
                          <a:latin typeface="Arial"/>
                        </a:rPr>
                        <a:t>Won't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Version 2</a:t>
                      </a:r>
                    </a:p>
                  </a:txBody>
                  <a:tcPr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Arial"/>
              </a:rPr>
              <a:t>Outils : le tableau Trello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573"/>
                </a:solidFill>
                <a:latin typeface="Arial"/>
              </a:rPr>
              <a:t>Sprint 1, jour 4 (exemple factice)</a:t>
            </a:r>
          </a:p>
        </p:txBody>
      </p:sp>
      <p:pic>
        <p:nvPicPr>
          <p:cNvPr id="4" name="Picture 3" descr="tr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38033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Arial"/>
              </a:rPr>
              <a:t>Outils : Burndown et Gantt</a:t>
            </a:r>
          </a:p>
        </p:txBody>
      </p:sp>
      <p:pic>
        <p:nvPicPr>
          <p:cNvPr id="3" name="Picture 2" descr="burn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760720" cy="3024378"/>
          </a:xfrm>
          <a:prstGeom prst="rect">
            <a:avLst/>
          </a:prstGeom>
        </p:spPr>
      </p:pic>
      <p:pic>
        <p:nvPicPr>
          <p:cNvPr id="4" name="Picture 3" descr="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74519"/>
            <a:ext cx="5486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l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D9C7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enêtre"/>
          <p:cNvSpPr/>
          <p:nvPr/>
        </p:nvSpPr>
        <p:spPr>
          <a:xfrm>
            <a:off x="548640" y="502920"/>
            <a:ext cx="1737360" cy="1280160"/>
          </a:xfrm>
          <a:prstGeom prst="rect">
            <a:avLst/>
          </a:prstGeom>
          <a:solidFill>
            <a:srgbClr val="BFDDF2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dre tableau"/>
          <p:cNvSpPr/>
          <p:nvPr/>
        </p:nvSpPr>
        <p:spPr>
          <a:xfrm>
            <a:off x="3977639" y="320040"/>
            <a:ext cx="4251960" cy="2240280"/>
          </a:xfrm>
          <a:prstGeom prst="roundRect">
            <a:avLst/>
          </a:prstGeom>
          <a:solidFill>
            <a:srgbClr val="8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bleau"/>
          <p:cNvSpPr/>
          <p:nvPr/>
        </p:nvSpPr>
        <p:spPr>
          <a:xfrm>
            <a:off x="4087368" y="429768"/>
            <a:ext cx="4032504" cy="2020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87368" y="502920"/>
            <a:ext cx="4032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Arial"/>
              </a:rPr>
              <a:t>Scène 1 · Sprint Planning</a:t>
            </a:r>
          </a:p>
        </p:txBody>
      </p:sp>
      <p:sp>
        <p:nvSpPr>
          <p:cNvPr id="7" name="Post-it"/>
          <p:cNvSpPr/>
          <p:nvPr/>
        </p:nvSpPr>
        <p:spPr>
          <a:xfrm>
            <a:off x="4343400" y="1188720"/>
            <a:ext cx="1051560" cy="685800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US1</a:t>
            </a:r>
          </a:p>
        </p:txBody>
      </p:sp>
      <p:sp>
        <p:nvSpPr>
          <p:cNvPr id="8" name="Post-it"/>
          <p:cNvSpPr/>
          <p:nvPr/>
        </p:nvSpPr>
        <p:spPr>
          <a:xfrm>
            <a:off x="5577840" y="1188720"/>
            <a:ext cx="1051560" cy="685800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US2</a:t>
            </a:r>
          </a:p>
        </p:txBody>
      </p:sp>
      <p:sp>
        <p:nvSpPr>
          <p:cNvPr id="9" name="Post-it"/>
          <p:cNvSpPr/>
          <p:nvPr/>
        </p:nvSpPr>
        <p:spPr>
          <a:xfrm>
            <a:off x="6812280" y="1188720"/>
            <a:ext cx="1051560" cy="685800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US3</a:t>
            </a:r>
          </a:p>
        </p:txBody>
      </p:sp>
      <p:sp>
        <p:nvSpPr>
          <p:cNvPr id="10" name="Pot"/>
          <p:cNvSpPr/>
          <p:nvPr/>
        </p:nvSpPr>
        <p:spPr>
          <a:xfrm>
            <a:off x="11292840" y="4754880"/>
            <a:ext cx="384048" cy="594360"/>
          </a:xfrm>
          <a:prstGeom prst="roundRect">
            <a:avLst/>
          </a:prstGeom>
          <a:solidFill>
            <a:srgbClr val="B5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lante"/>
          <p:cNvSpPr/>
          <p:nvPr/>
        </p:nvSpPr>
        <p:spPr>
          <a:xfrm>
            <a:off x="10972800" y="3886200"/>
            <a:ext cx="1005840" cy="960120"/>
          </a:xfrm>
          <a:prstGeom prst="ellipse">
            <a:avLst/>
          </a:prstGeom>
          <a:solidFill>
            <a:srgbClr val="4E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" name="Sarah"/>
          <p:cNvGrpSpPr/>
          <p:nvPr/>
        </p:nvGrpSpPr>
        <p:grpSpPr>
          <a:xfrm>
            <a:off x="1794509" y="3595786"/>
            <a:ext cx="1440180" cy="2565440"/>
            <a:chOff x="1794509" y="3595786"/>
            <a:chExt cx="1440180" cy="2565440"/>
          </a:xfrm>
        </p:grpSpPr>
        <p:sp>
          <p:nvSpPr>
            <p:cNvPr id="13" name="Rounded Rectangle 12"/>
            <p:cNvSpPr/>
            <p:nvPr/>
          </p:nvSpPr>
          <p:spPr>
            <a:xfrm>
              <a:off x="2181246" y="3607308"/>
              <a:ext cx="666707" cy="684565"/>
            </a:xfrm>
            <a:prstGeom prst="roundRect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312974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553004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063343" y="4260189"/>
              <a:ext cx="153619" cy="691286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812237" y="4260189"/>
              <a:ext cx="153619" cy="691286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063343" y="4893868"/>
              <a:ext cx="153619" cy="153619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2812237" y="4893868"/>
              <a:ext cx="153619" cy="153619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188159" y="4183380"/>
              <a:ext cx="652881" cy="979322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447391" y="4161297"/>
              <a:ext cx="134416" cy="153619"/>
            </a:xfrm>
            <a:prstGeom prst="rect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2199104" y="3595786"/>
              <a:ext cx="630990" cy="476219"/>
            </a:xfrm>
            <a:prstGeom prst="ellipse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2216962" y="3712921"/>
              <a:ext cx="595274" cy="559557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2365781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2270729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2596210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2662458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Arc 27"/>
            <p:cNvSpPr/>
            <p:nvPr/>
          </p:nvSpPr>
          <p:spPr>
            <a:xfrm>
              <a:off x="2428189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794509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Sarah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Product Owner</a:t>
              </a:r>
            </a:p>
          </p:txBody>
        </p:sp>
      </p:grpSp>
      <p:grpSp>
        <p:nvGrpSpPr>
          <p:cNvPr id="30" name="Lucien"/>
          <p:cNvGrpSpPr/>
          <p:nvPr/>
        </p:nvGrpSpPr>
        <p:grpSpPr>
          <a:xfrm>
            <a:off x="3586734" y="3595786"/>
            <a:ext cx="1440180" cy="2565440"/>
            <a:chOff x="3586734" y="3595786"/>
            <a:chExt cx="1440180" cy="2565440"/>
          </a:xfrm>
        </p:grpSpPr>
        <p:sp>
          <p:nvSpPr>
            <p:cNvPr id="31" name="Rounded Rectangle 30"/>
            <p:cNvSpPr/>
            <p:nvPr/>
          </p:nvSpPr>
          <p:spPr>
            <a:xfrm>
              <a:off x="4105198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345228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855567" y="4260189"/>
              <a:ext cx="153619" cy="691286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4604461" y="4260189"/>
              <a:ext cx="153619" cy="691286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3855567" y="4893868"/>
              <a:ext cx="153619" cy="153619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4604461" y="4893868"/>
              <a:ext cx="153619" cy="153619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980383" y="4183380"/>
              <a:ext cx="652881" cy="979322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239615" y="4161297"/>
              <a:ext cx="134416" cy="153619"/>
            </a:xfrm>
            <a:prstGeom prst="rect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3991328" y="3595786"/>
              <a:ext cx="630990" cy="476219"/>
            </a:xfrm>
            <a:prstGeom prst="ellipse">
              <a:avLst/>
            </a:prstGeom>
            <a:solidFill>
              <a:srgbClr val="1E1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4009186" y="3712921"/>
              <a:ext cx="595274" cy="559557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158005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4062953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388434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4454682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239615" y="4068549"/>
              <a:ext cx="134416" cy="105613"/>
            </a:xfrm>
            <a:prstGeom prst="ellipse">
              <a:avLst/>
            </a:prstGeom>
            <a:solidFill>
              <a:srgbClr val="5A2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3586734" y="5700369"/>
              <a:ext cx="1440180" cy="460857"/>
            </a:xfrm>
            <a:prstGeom prst="roundRect">
              <a:avLst/>
            </a:prstGeom>
            <a:solidFill>
              <a:srgbClr val="2B2B2B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FFFFFF"/>
                  </a:solidFill>
                  <a:latin typeface="Arial"/>
                </a:rPr>
                <a:t>Lucien</a:t>
              </a:r>
            </a:p>
            <a:p>
              <a:pPr algn="ctr"/>
              <a:r>
                <a:rPr sz="892">
                  <a:solidFill>
                    <a:srgbClr val="FFFFFF"/>
                  </a:solidFill>
                  <a:latin typeface="Arial"/>
                </a:rPr>
                <a:t>Scrum Master</a:t>
              </a:r>
            </a:p>
          </p:txBody>
        </p:sp>
      </p:grpSp>
      <p:grpSp>
        <p:nvGrpSpPr>
          <p:cNvPr id="47" name="Karim"/>
          <p:cNvGrpSpPr/>
          <p:nvPr/>
        </p:nvGrpSpPr>
        <p:grpSpPr>
          <a:xfrm>
            <a:off x="5378958" y="3559302"/>
            <a:ext cx="1440180" cy="2601924"/>
            <a:chOff x="5378958" y="3559302"/>
            <a:chExt cx="1440180" cy="2601924"/>
          </a:xfrm>
        </p:grpSpPr>
        <p:sp>
          <p:nvSpPr>
            <p:cNvPr id="48" name="Rounded Rectangle 47"/>
            <p:cNvSpPr/>
            <p:nvPr/>
          </p:nvSpPr>
          <p:spPr>
            <a:xfrm>
              <a:off x="58974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61374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5647791" y="4260189"/>
              <a:ext cx="153619" cy="691286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6396685" y="4260189"/>
              <a:ext cx="153619" cy="691286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5647791" y="4893868"/>
              <a:ext cx="153619" cy="153619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6396685" y="4893868"/>
              <a:ext cx="153619" cy="153619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5772607" y="4183380"/>
              <a:ext cx="652881" cy="979322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031839" y="4161297"/>
              <a:ext cx="134416" cy="153619"/>
            </a:xfrm>
            <a:prstGeom prst="rect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5734202" y="3621709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5859018" y="3590505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5983833" y="3559302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6108649" y="3590505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6233464" y="3621709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5801410" y="3712921"/>
              <a:ext cx="595274" cy="559557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59502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58551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61806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62469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Arc 65"/>
            <p:cNvSpPr/>
            <p:nvPr/>
          </p:nvSpPr>
          <p:spPr>
            <a:xfrm>
              <a:off x="6012637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5378958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Karim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Developer (IA)</a:t>
              </a:r>
            </a:p>
          </p:txBody>
        </p:sp>
      </p:grpSp>
      <p:grpSp>
        <p:nvGrpSpPr>
          <p:cNvPr id="68" name="Julie"/>
          <p:cNvGrpSpPr/>
          <p:nvPr/>
        </p:nvGrpSpPr>
        <p:grpSpPr>
          <a:xfrm>
            <a:off x="7171182" y="3595786"/>
            <a:ext cx="1440180" cy="2565440"/>
            <a:chOff x="7171182" y="3595786"/>
            <a:chExt cx="1440180" cy="2565440"/>
          </a:xfrm>
        </p:grpSpPr>
        <p:sp>
          <p:nvSpPr>
            <p:cNvPr id="69" name="Oval 68"/>
            <p:cNvSpPr/>
            <p:nvPr/>
          </p:nvSpPr>
          <p:spPr>
            <a:xfrm>
              <a:off x="8099618" y="3636111"/>
              <a:ext cx="192024" cy="403250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7689646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7929676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7440015" y="4260189"/>
              <a:ext cx="153619" cy="691286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8188909" y="4260189"/>
              <a:ext cx="153619" cy="691286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7440015" y="4893868"/>
              <a:ext cx="153619" cy="153619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188909" y="4893868"/>
              <a:ext cx="153619" cy="153619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7564831" y="4183380"/>
              <a:ext cx="652881" cy="979322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7824063" y="4161297"/>
              <a:ext cx="134416" cy="153619"/>
            </a:xfrm>
            <a:prstGeom prst="rect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7575776" y="3595786"/>
              <a:ext cx="630990" cy="476219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7593634" y="3712921"/>
              <a:ext cx="595274" cy="559557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7742453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7647401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7972882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8039130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Arc 83"/>
            <p:cNvSpPr/>
            <p:nvPr/>
          </p:nvSpPr>
          <p:spPr>
            <a:xfrm>
              <a:off x="7804861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7171182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Julie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Developer (appli)</a:t>
              </a:r>
            </a:p>
          </p:txBody>
        </p:sp>
      </p:grpSp>
      <p:grpSp>
        <p:nvGrpSpPr>
          <p:cNvPr id="86" name="Mme Durand"/>
          <p:cNvGrpSpPr/>
          <p:nvPr/>
        </p:nvGrpSpPr>
        <p:grpSpPr>
          <a:xfrm>
            <a:off x="8963406" y="3463290"/>
            <a:ext cx="1440180" cy="2697936"/>
            <a:chOff x="8963406" y="3463290"/>
            <a:chExt cx="1440180" cy="2697936"/>
          </a:xfrm>
        </p:grpSpPr>
        <p:sp>
          <p:nvSpPr>
            <p:cNvPr id="87" name="Oval 86"/>
            <p:cNvSpPr/>
            <p:nvPr/>
          </p:nvSpPr>
          <p:spPr>
            <a:xfrm>
              <a:off x="9549079" y="3463290"/>
              <a:ext cx="268833" cy="268833"/>
            </a:xfrm>
            <a:prstGeom prst="ellipse">
              <a:avLst/>
            </a:prstGeom>
            <a:solidFill>
              <a:srgbClr val="8A8A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9481870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9721900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9232239" y="4260189"/>
              <a:ext cx="153619" cy="691286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9981133" y="4260189"/>
              <a:ext cx="153619" cy="691286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9232239" y="4893868"/>
              <a:ext cx="153619" cy="153619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9981133" y="4893868"/>
              <a:ext cx="153619" cy="153619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9357055" y="4183380"/>
              <a:ext cx="652881" cy="979322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9616287" y="4161297"/>
              <a:ext cx="134416" cy="153619"/>
            </a:xfrm>
            <a:prstGeom prst="rect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9368000" y="3595786"/>
              <a:ext cx="630990" cy="476219"/>
            </a:xfrm>
            <a:prstGeom prst="ellipse">
              <a:avLst/>
            </a:prstGeom>
            <a:solidFill>
              <a:srgbClr val="8A8A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9385858" y="3712921"/>
              <a:ext cx="595274" cy="559557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9534677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9439625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9765106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9831354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9481870" y="3866924"/>
              <a:ext cx="172821" cy="172821"/>
            </a:xfrm>
            <a:prstGeom prst="ellipse">
              <a:avLst/>
            </a:prstGeom>
            <a:noFill/>
            <a:ln w="20002">
              <a:solidFill>
                <a:srgbClr val="2B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9712299" y="3866924"/>
              <a:ext cx="172821" cy="172821"/>
            </a:xfrm>
            <a:prstGeom prst="ellipse">
              <a:avLst/>
            </a:prstGeom>
            <a:noFill/>
            <a:ln w="20002">
              <a:solidFill>
                <a:srgbClr val="2B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Arc 103"/>
            <p:cNvSpPr/>
            <p:nvPr/>
          </p:nvSpPr>
          <p:spPr>
            <a:xfrm>
              <a:off x="9597085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8963406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Mme Durand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Professeure (partie prenante)</a:t>
              </a:r>
            </a:p>
          </p:txBody>
        </p:sp>
      </p:grpSp>
      <p:sp>
        <p:nvSpPr>
          <p:cNvPr id="106" name="Bulle Lucien"/>
          <p:cNvSpPr/>
          <p:nvPr/>
        </p:nvSpPr>
        <p:spPr>
          <a:xfrm>
            <a:off x="2112264" y="2606040"/>
            <a:ext cx="4389120" cy="868680"/>
          </a:xfrm>
          <a:prstGeom prst="wedgeRoundRectCallout">
            <a:avLst>
              <a:gd name="adj1" fmla="val 0"/>
              <a:gd name="adj2" fmla="val 67894"/>
              <a:gd name="adj3" fmla="val 16667"/>
            </a:avLst>
          </a:prstGeom>
          <a:solidFill>
            <a:srgbClr val="FFFFFF"/>
          </a:solidFill>
          <a:ln w="285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2E75B6"/>
                </a:solidFill>
                <a:latin typeface="Arial"/>
              </a:rPr>
              <a:t>Lucien</a:t>
            </a:r>
          </a:p>
          <a:p>
            <a:r>
              <a:rPr sz="1700">
                <a:solidFill>
                  <a:srgbClr val="2B2B2B"/>
                </a:solidFill>
                <a:latin typeface="Arial"/>
              </a:rPr>
              <a:t>Bienvenue au Sprint Planning ! Sarah, quelles sont les priorités ?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5A45"/>
                </a:solidFill>
                <a:latin typeface="Arial"/>
              </a:rPr>
              <a:t>Début du Sprint 1 : on priorise les user stories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l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D9C7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enêtre"/>
          <p:cNvSpPr/>
          <p:nvPr/>
        </p:nvSpPr>
        <p:spPr>
          <a:xfrm>
            <a:off x="548640" y="502920"/>
            <a:ext cx="1737360" cy="1280160"/>
          </a:xfrm>
          <a:prstGeom prst="rect">
            <a:avLst/>
          </a:prstGeom>
          <a:solidFill>
            <a:srgbClr val="BFDDF2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dre tableau"/>
          <p:cNvSpPr/>
          <p:nvPr/>
        </p:nvSpPr>
        <p:spPr>
          <a:xfrm>
            <a:off x="3977639" y="320040"/>
            <a:ext cx="4251960" cy="2240280"/>
          </a:xfrm>
          <a:prstGeom prst="roundRect">
            <a:avLst/>
          </a:prstGeom>
          <a:solidFill>
            <a:srgbClr val="8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bleau"/>
          <p:cNvSpPr/>
          <p:nvPr/>
        </p:nvSpPr>
        <p:spPr>
          <a:xfrm>
            <a:off x="4087368" y="429768"/>
            <a:ext cx="4032504" cy="2020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87368" y="502920"/>
            <a:ext cx="4032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Arial"/>
              </a:rPr>
              <a:t>Scène 2 · Daily Scrum</a:t>
            </a:r>
          </a:p>
        </p:txBody>
      </p:sp>
      <p:sp>
        <p:nvSpPr>
          <p:cNvPr id="7" name="Post-it"/>
          <p:cNvSpPr/>
          <p:nvPr/>
        </p:nvSpPr>
        <p:spPr>
          <a:xfrm>
            <a:off x="4343400" y="1188720"/>
            <a:ext cx="1051560" cy="685800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US3</a:t>
            </a:r>
          </a:p>
        </p:txBody>
      </p:sp>
      <p:sp>
        <p:nvSpPr>
          <p:cNvPr id="8" name="Post-it"/>
          <p:cNvSpPr/>
          <p:nvPr/>
        </p:nvSpPr>
        <p:spPr>
          <a:xfrm>
            <a:off x="5577840" y="1188720"/>
            <a:ext cx="1051560" cy="685800"/>
          </a:xfrm>
          <a:prstGeom prst="rect">
            <a:avLst/>
          </a:prstGeom>
          <a:solidFill>
            <a:srgbClr val="FF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US2</a:t>
            </a:r>
          </a:p>
        </p:txBody>
      </p:sp>
      <p:sp>
        <p:nvSpPr>
          <p:cNvPr id="9" name="Post-it"/>
          <p:cNvSpPr/>
          <p:nvPr/>
        </p:nvSpPr>
        <p:spPr>
          <a:xfrm>
            <a:off x="6812280" y="1188720"/>
            <a:ext cx="1051560" cy="685800"/>
          </a:xfrm>
          <a:prstGeom prst="rect">
            <a:avLst/>
          </a:prstGeom>
          <a:solidFill>
            <a:srgbClr val="B8E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US1</a:t>
            </a:r>
          </a:p>
        </p:txBody>
      </p:sp>
      <p:sp>
        <p:nvSpPr>
          <p:cNvPr id="10" name="Pot"/>
          <p:cNvSpPr/>
          <p:nvPr/>
        </p:nvSpPr>
        <p:spPr>
          <a:xfrm>
            <a:off x="11292840" y="4754880"/>
            <a:ext cx="384048" cy="594360"/>
          </a:xfrm>
          <a:prstGeom prst="roundRect">
            <a:avLst/>
          </a:prstGeom>
          <a:solidFill>
            <a:srgbClr val="B5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lante"/>
          <p:cNvSpPr/>
          <p:nvPr/>
        </p:nvSpPr>
        <p:spPr>
          <a:xfrm>
            <a:off x="10972800" y="3886200"/>
            <a:ext cx="1005840" cy="960120"/>
          </a:xfrm>
          <a:prstGeom prst="ellipse">
            <a:avLst/>
          </a:prstGeom>
          <a:solidFill>
            <a:srgbClr val="4E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" name="Lucien"/>
          <p:cNvGrpSpPr/>
          <p:nvPr/>
        </p:nvGrpSpPr>
        <p:grpSpPr>
          <a:xfrm>
            <a:off x="3321558" y="3595786"/>
            <a:ext cx="1440180" cy="2565440"/>
            <a:chOff x="3321558" y="3595786"/>
            <a:chExt cx="1440180" cy="2565440"/>
          </a:xfrm>
        </p:grpSpPr>
        <p:sp>
          <p:nvSpPr>
            <p:cNvPr id="13" name="Rounded Rectangle 12"/>
            <p:cNvSpPr/>
            <p:nvPr/>
          </p:nvSpPr>
          <p:spPr>
            <a:xfrm>
              <a:off x="38400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0800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590391" y="4260189"/>
              <a:ext cx="153619" cy="691286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339285" y="4260189"/>
              <a:ext cx="153619" cy="691286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3590391" y="4893868"/>
              <a:ext cx="153619" cy="153619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4339285" y="4893868"/>
              <a:ext cx="153619" cy="153619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715207" y="4183380"/>
              <a:ext cx="652881" cy="979322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974439" y="4161297"/>
              <a:ext cx="134416" cy="153619"/>
            </a:xfrm>
            <a:prstGeom prst="rect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3726152" y="3595786"/>
              <a:ext cx="630990" cy="476219"/>
            </a:xfrm>
            <a:prstGeom prst="ellipse">
              <a:avLst/>
            </a:prstGeom>
            <a:solidFill>
              <a:srgbClr val="1E1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3744010" y="3712921"/>
              <a:ext cx="595274" cy="559557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38928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37977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41232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41895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Arc 26"/>
            <p:cNvSpPr/>
            <p:nvPr/>
          </p:nvSpPr>
          <p:spPr>
            <a:xfrm>
              <a:off x="3955237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321558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Lucien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Scrum Master</a:t>
              </a:r>
            </a:p>
          </p:txBody>
        </p:sp>
      </p:grpSp>
      <p:grpSp>
        <p:nvGrpSpPr>
          <p:cNvPr id="29" name="Karim"/>
          <p:cNvGrpSpPr/>
          <p:nvPr/>
        </p:nvGrpSpPr>
        <p:grpSpPr>
          <a:xfrm>
            <a:off x="5378958" y="3559302"/>
            <a:ext cx="1440180" cy="2601924"/>
            <a:chOff x="5378958" y="3559302"/>
            <a:chExt cx="1440180" cy="2601924"/>
          </a:xfrm>
        </p:grpSpPr>
        <p:sp>
          <p:nvSpPr>
            <p:cNvPr id="30" name="Rounded Rectangle 29"/>
            <p:cNvSpPr/>
            <p:nvPr/>
          </p:nvSpPr>
          <p:spPr>
            <a:xfrm>
              <a:off x="58974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1374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5647791" y="4260189"/>
              <a:ext cx="153619" cy="691286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396685" y="4260189"/>
              <a:ext cx="153619" cy="691286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647791" y="4893868"/>
              <a:ext cx="153619" cy="153619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6396685" y="4893868"/>
              <a:ext cx="153619" cy="153619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772607" y="4183380"/>
              <a:ext cx="652881" cy="979322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031839" y="4161297"/>
              <a:ext cx="134416" cy="153619"/>
            </a:xfrm>
            <a:prstGeom prst="rect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5734202" y="3621709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5859018" y="3590505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983833" y="3559302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6108649" y="3590505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6233464" y="3621709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5801410" y="3712921"/>
              <a:ext cx="595274" cy="559557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9502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58551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61806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62469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6031839" y="4068549"/>
              <a:ext cx="134416" cy="105613"/>
            </a:xfrm>
            <a:prstGeom prst="ellipse">
              <a:avLst/>
            </a:prstGeom>
            <a:solidFill>
              <a:srgbClr val="5A2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5378958" y="5700369"/>
              <a:ext cx="1440180" cy="460857"/>
            </a:xfrm>
            <a:prstGeom prst="roundRect">
              <a:avLst/>
            </a:prstGeom>
            <a:solidFill>
              <a:srgbClr val="2B2B2B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FFFFFF"/>
                  </a:solidFill>
                  <a:latin typeface="Arial"/>
                </a:rPr>
                <a:t>Karim</a:t>
              </a:r>
            </a:p>
            <a:p>
              <a:pPr algn="ctr"/>
              <a:r>
                <a:rPr sz="892">
                  <a:solidFill>
                    <a:srgbClr val="FFFFFF"/>
                  </a:solidFill>
                  <a:latin typeface="Arial"/>
                </a:rPr>
                <a:t>Developer (IA)</a:t>
              </a:r>
            </a:p>
          </p:txBody>
        </p:sp>
      </p:grpSp>
      <p:grpSp>
        <p:nvGrpSpPr>
          <p:cNvPr id="50" name="Julie"/>
          <p:cNvGrpSpPr/>
          <p:nvPr/>
        </p:nvGrpSpPr>
        <p:grpSpPr>
          <a:xfrm>
            <a:off x="7436358" y="3595786"/>
            <a:ext cx="1440180" cy="2565440"/>
            <a:chOff x="7436358" y="3595786"/>
            <a:chExt cx="1440180" cy="2565440"/>
          </a:xfrm>
        </p:grpSpPr>
        <p:sp>
          <p:nvSpPr>
            <p:cNvPr id="51" name="Oval 50"/>
            <p:cNvSpPr/>
            <p:nvPr/>
          </p:nvSpPr>
          <p:spPr>
            <a:xfrm>
              <a:off x="8364794" y="3636111"/>
              <a:ext cx="192024" cy="403250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79548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81948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7705191" y="4260189"/>
              <a:ext cx="153619" cy="691286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8454085" y="4260189"/>
              <a:ext cx="153619" cy="691286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7705191" y="4893868"/>
              <a:ext cx="153619" cy="153619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8454085" y="4893868"/>
              <a:ext cx="153619" cy="153619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830007" y="4183380"/>
              <a:ext cx="652881" cy="979322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089239" y="4161297"/>
              <a:ext cx="134416" cy="153619"/>
            </a:xfrm>
            <a:prstGeom prst="rect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7840952" y="3595786"/>
              <a:ext cx="630990" cy="476219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7858810" y="3712921"/>
              <a:ext cx="595274" cy="559557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80076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79125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82380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043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Arc 65"/>
            <p:cNvSpPr/>
            <p:nvPr/>
          </p:nvSpPr>
          <p:spPr>
            <a:xfrm>
              <a:off x="8070037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7436358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Julie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Developer (appli)</a:t>
              </a:r>
            </a:p>
          </p:txBody>
        </p:sp>
      </p:grpSp>
      <p:sp>
        <p:nvSpPr>
          <p:cNvPr id="68" name="Bulle Karim"/>
          <p:cNvSpPr/>
          <p:nvPr/>
        </p:nvSpPr>
        <p:spPr>
          <a:xfrm>
            <a:off x="3904487" y="2606040"/>
            <a:ext cx="4389120" cy="868680"/>
          </a:xfrm>
          <a:prstGeom prst="wedgeRoundRectCallout">
            <a:avLst>
              <a:gd name="adj1" fmla="val 0"/>
              <a:gd name="adj2" fmla="val 67894"/>
              <a:gd name="adj3" fmla="val 16667"/>
            </a:avLst>
          </a:prstGeom>
          <a:solidFill>
            <a:srgbClr val="FFFFFF"/>
          </a:solidFill>
          <a:ln w="28575">
            <a:solidFill>
              <a:srgbClr val="3BA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3BA272"/>
                </a:solidFill>
                <a:latin typeface="Arial"/>
              </a:rPr>
              <a:t>Karim</a:t>
            </a:r>
          </a:p>
          <a:p>
            <a:r>
              <a:rPr sz="1700">
                <a:solidFill>
                  <a:srgbClr val="2B2B2B"/>
                </a:solidFill>
                <a:latin typeface="Arial"/>
              </a:rPr>
              <a:t>Moi, je suis bloqué : il me manque des exercices classés par compétence.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5A45"/>
                </a:solidFill>
                <a:latin typeface="Arial"/>
              </a:rPr>
              <a:t>15 minutes, chaque matin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l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D9C7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enêtre"/>
          <p:cNvSpPr/>
          <p:nvPr/>
        </p:nvSpPr>
        <p:spPr>
          <a:xfrm>
            <a:off x="548640" y="502920"/>
            <a:ext cx="1737360" cy="1280160"/>
          </a:xfrm>
          <a:prstGeom prst="rect">
            <a:avLst/>
          </a:prstGeom>
          <a:solidFill>
            <a:srgbClr val="BFDDF2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dre tableau"/>
          <p:cNvSpPr/>
          <p:nvPr/>
        </p:nvSpPr>
        <p:spPr>
          <a:xfrm>
            <a:off x="3977639" y="320040"/>
            <a:ext cx="4251960" cy="2240280"/>
          </a:xfrm>
          <a:prstGeom prst="roundRect">
            <a:avLst/>
          </a:prstGeom>
          <a:solidFill>
            <a:srgbClr val="8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bleau"/>
          <p:cNvSpPr/>
          <p:nvPr/>
        </p:nvSpPr>
        <p:spPr>
          <a:xfrm>
            <a:off x="4087368" y="429768"/>
            <a:ext cx="4032504" cy="2020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87368" y="502920"/>
            <a:ext cx="4032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Arial"/>
              </a:rPr>
              <a:t>Scène 3 · Développement et tests</a:t>
            </a:r>
          </a:p>
        </p:txBody>
      </p:sp>
      <p:sp>
        <p:nvSpPr>
          <p:cNvPr id="7" name="Post-it"/>
          <p:cNvSpPr/>
          <p:nvPr/>
        </p:nvSpPr>
        <p:spPr>
          <a:xfrm>
            <a:off x="4343400" y="1188720"/>
            <a:ext cx="1051560" cy="685800"/>
          </a:xfrm>
          <a:prstGeom prst="rect">
            <a:avLst/>
          </a:prstGeom>
          <a:solidFill>
            <a:srgbClr val="B8E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Tests OK</a:t>
            </a:r>
          </a:p>
        </p:txBody>
      </p:sp>
      <p:sp>
        <p:nvSpPr>
          <p:cNvPr id="8" name="Pot"/>
          <p:cNvSpPr/>
          <p:nvPr/>
        </p:nvSpPr>
        <p:spPr>
          <a:xfrm>
            <a:off x="11292840" y="4754880"/>
            <a:ext cx="384048" cy="594360"/>
          </a:xfrm>
          <a:prstGeom prst="roundRect">
            <a:avLst/>
          </a:prstGeom>
          <a:solidFill>
            <a:srgbClr val="B5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lante"/>
          <p:cNvSpPr/>
          <p:nvPr/>
        </p:nvSpPr>
        <p:spPr>
          <a:xfrm>
            <a:off x="10972800" y="3886200"/>
            <a:ext cx="1005840" cy="960120"/>
          </a:xfrm>
          <a:prstGeom prst="ellipse">
            <a:avLst/>
          </a:prstGeom>
          <a:solidFill>
            <a:srgbClr val="4E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Karim"/>
          <p:cNvGrpSpPr/>
          <p:nvPr/>
        </p:nvGrpSpPr>
        <p:grpSpPr>
          <a:xfrm>
            <a:off x="4350258" y="3559302"/>
            <a:ext cx="1440180" cy="2601924"/>
            <a:chOff x="4350258" y="3559302"/>
            <a:chExt cx="1440180" cy="2601924"/>
          </a:xfrm>
        </p:grpSpPr>
        <p:sp>
          <p:nvSpPr>
            <p:cNvPr id="11" name="Rounded Rectangle 10"/>
            <p:cNvSpPr/>
            <p:nvPr/>
          </p:nvSpPr>
          <p:spPr>
            <a:xfrm>
              <a:off x="48687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087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619091" y="4260189"/>
              <a:ext cx="153619" cy="691286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367985" y="4260189"/>
              <a:ext cx="153619" cy="691286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4619091" y="4893868"/>
              <a:ext cx="153619" cy="153619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367985" y="4893868"/>
              <a:ext cx="153619" cy="153619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743907" y="4183380"/>
              <a:ext cx="652881" cy="979322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003139" y="4161297"/>
              <a:ext cx="134416" cy="153619"/>
            </a:xfrm>
            <a:prstGeom prst="rect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4705502" y="3621709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4830318" y="3590505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4955133" y="3559302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5079949" y="3590505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5204764" y="3621709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4772710" y="3712921"/>
              <a:ext cx="595274" cy="559557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49215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48264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51519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52182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003139" y="4068549"/>
              <a:ext cx="134416" cy="105613"/>
            </a:xfrm>
            <a:prstGeom prst="ellipse">
              <a:avLst/>
            </a:prstGeom>
            <a:solidFill>
              <a:srgbClr val="5A2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350258" y="5700369"/>
              <a:ext cx="1440180" cy="460857"/>
            </a:xfrm>
            <a:prstGeom prst="roundRect">
              <a:avLst/>
            </a:prstGeom>
            <a:solidFill>
              <a:srgbClr val="2B2B2B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FFFFFF"/>
                  </a:solidFill>
                  <a:latin typeface="Arial"/>
                </a:rPr>
                <a:t>Karim</a:t>
              </a:r>
            </a:p>
            <a:p>
              <a:pPr algn="ctr"/>
              <a:r>
                <a:rPr sz="892">
                  <a:solidFill>
                    <a:srgbClr val="FFFFFF"/>
                  </a:solidFill>
                  <a:latin typeface="Arial"/>
                </a:rPr>
                <a:t>Developer (IA)</a:t>
              </a:r>
            </a:p>
          </p:txBody>
        </p:sp>
      </p:grpSp>
      <p:grpSp>
        <p:nvGrpSpPr>
          <p:cNvPr id="31" name="Julie"/>
          <p:cNvGrpSpPr/>
          <p:nvPr/>
        </p:nvGrpSpPr>
        <p:grpSpPr>
          <a:xfrm>
            <a:off x="6407658" y="3595786"/>
            <a:ext cx="1440180" cy="2565440"/>
            <a:chOff x="6407658" y="3595786"/>
            <a:chExt cx="1440180" cy="2565440"/>
          </a:xfrm>
        </p:grpSpPr>
        <p:sp>
          <p:nvSpPr>
            <p:cNvPr id="32" name="Oval 31"/>
            <p:cNvSpPr/>
            <p:nvPr/>
          </p:nvSpPr>
          <p:spPr>
            <a:xfrm>
              <a:off x="7336094" y="3636111"/>
              <a:ext cx="192024" cy="403250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9261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71661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6676491" y="4260189"/>
              <a:ext cx="153619" cy="691286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7425385" y="4260189"/>
              <a:ext cx="153619" cy="691286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6676491" y="4893868"/>
              <a:ext cx="153619" cy="153619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7425385" y="4893868"/>
              <a:ext cx="153619" cy="153619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6801307" y="4183380"/>
              <a:ext cx="652881" cy="979322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060539" y="4161297"/>
              <a:ext cx="134416" cy="153619"/>
            </a:xfrm>
            <a:prstGeom prst="rect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6812252" y="3595786"/>
              <a:ext cx="630990" cy="476219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6830110" y="3712921"/>
              <a:ext cx="595274" cy="559557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69789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68838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72093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72756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Arc 46"/>
            <p:cNvSpPr/>
            <p:nvPr/>
          </p:nvSpPr>
          <p:spPr>
            <a:xfrm>
              <a:off x="7041337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6407658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Julie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Developer (appli)</a:t>
              </a:r>
            </a:p>
          </p:txBody>
        </p:sp>
      </p:grpSp>
      <p:sp>
        <p:nvSpPr>
          <p:cNvPr id="49" name="Bulle Karim"/>
          <p:cNvSpPr/>
          <p:nvPr/>
        </p:nvSpPr>
        <p:spPr>
          <a:xfrm>
            <a:off x="2875788" y="2606040"/>
            <a:ext cx="4389120" cy="868680"/>
          </a:xfrm>
          <a:prstGeom prst="wedgeRoundRectCallout">
            <a:avLst>
              <a:gd name="adj1" fmla="val 0"/>
              <a:gd name="adj2" fmla="val 67894"/>
              <a:gd name="adj3" fmla="val 16667"/>
            </a:avLst>
          </a:prstGeom>
          <a:solidFill>
            <a:srgbClr val="FFFFFF"/>
          </a:solidFill>
          <a:ln w="28575">
            <a:solidFill>
              <a:srgbClr val="3BA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3BA272"/>
                </a:solidFill>
                <a:latin typeface="Arial"/>
              </a:rPr>
              <a:t>Karim</a:t>
            </a:r>
          </a:p>
          <a:p>
            <a:r>
              <a:rPr sz="1700">
                <a:solidFill>
                  <a:srgbClr val="2B2B2B"/>
                </a:solidFill>
                <a:latin typeface="Arial"/>
              </a:rPr>
              <a:t>Le modèle repère bien les erreurs sur les fractions.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5A45"/>
                </a:solidFill>
                <a:latin typeface="Arial"/>
              </a:rPr>
              <a:t>On code, on teste, on respecte la Definition of Done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l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D9C7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enêtre"/>
          <p:cNvSpPr/>
          <p:nvPr/>
        </p:nvSpPr>
        <p:spPr>
          <a:xfrm>
            <a:off x="548640" y="502920"/>
            <a:ext cx="1737360" cy="1280160"/>
          </a:xfrm>
          <a:prstGeom prst="rect">
            <a:avLst/>
          </a:prstGeom>
          <a:solidFill>
            <a:srgbClr val="BFDDF2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dre tableau"/>
          <p:cNvSpPr/>
          <p:nvPr/>
        </p:nvSpPr>
        <p:spPr>
          <a:xfrm>
            <a:off x="3977639" y="320040"/>
            <a:ext cx="4251960" cy="2240280"/>
          </a:xfrm>
          <a:prstGeom prst="roundRect">
            <a:avLst/>
          </a:prstGeom>
          <a:solidFill>
            <a:srgbClr val="8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bleau"/>
          <p:cNvSpPr/>
          <p:nvPr/>
        </p:nvSpPr>
        <p:spPr>
          <a:xfrm>
            <a:off x="4087368" y="429768"/>
            <a:ext cx="4032504" cy="2020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87368" y="502920"/>
            <a:ext cx="4032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Arial"/>
              </a:rPr>
              <a:t>Scène 4 · Sprint Review</a:t>
            </a:r>
          </a:p>
        </p:txBody>
      </p:sp>
      <p:sp>
        <p:nvSpPr>
          <p:cNvPr id="7" name="Post-it"/>
          <p:cNvSpPr/>
          <p:nvPr/>
        </p:nvSpPr>
        <p:spPr>
          <a:xfrm>
            <a:off x="4343400" y="1188720"/>
            <a:ext cx="1051560" cy="685800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Quiz</a:t>
            </a:r>
          </a:p>
        </p:txBody>
      </p:sp>
      <p:sp>
        <p:nvSpPr>
          <p:cNvPr id="8" name="Post-it"/>
          <p:cNvSpPr/>
          <p:nvPr/>
        </p:nvSpPr>
        <p:spPr>
          <a:xfrm>
            <a:off x="5577840" y="1188720"/>
            <a:ext cx="1051560" cy="685800"/>
          </a:xfrm>
          <a:prstGeom prst="rect">
            <a:avLst/>
          </a:prstGeom>
          <a:solidFill>
            <a:srgbClr val="B8E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5 exos</a:t>
            </a:r>
          </a:p>
        </p:txBody>
      </p:sp>
      <p:sp>
        <p:nvSpPr>
          <p:cNvPr id="9" name="Pot"/>
          <p:cNvSpPr/>
          <p:nvPr/>
        </p:nvSpPr>
        <p:spPr>
          <a:xfrm>
            <a:off x="11292840" y="4754880"/>
            <a:ext cx="384048" cy="594360"/>
          </a:xfrm>
          <a:prstGeom prst="roundRect">
            <a:avLst/>
          </a:prstGeom>
          <a:solidFill>
            <a:srgbClr val="B5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lante"/>
          <p:cNvSpPr/>
          <p:nvPr/>
        </p:nvSpPr>
        <p:spPr>
          <a:xfrm>
            <a:off x="10972800" y="3886200"/>
            <a:ext cx="1005840" cy="960120"/>
          </a:xfrm>
          <a:prstGeom prst="ellipse">
            <a:avLst/>
          </a:prstGeom>
          <a:solidFill>
            <a:srgbClr val="4E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" name="Sarah"/>
          <p:cNvGrpSpPr/>
          <p:nvPr/>
        </p:nvGrpSpPr>
        <p:grpSpPr>
          <a:xfrm>
            <a:off x="2292858" y="3595786"/>
            <a:ext cx="1440180" cy="2565440"/>
            <a:chOff x="2292858" y="3595786"/>
            <a:chExt cx="1440180" cy="2565440"/>
          </a:xfrm>
        </p:grpSpPr>
        <p:sp>
          <p:nvSpPr>
            <p:cNvPr id="12" name="Rounded Rectangle 11"/>
            <p:cNvSpPr/>
            <p:nvPr/>
          </p:nvSpPr>
          <p:spPr>
            <a:xfrm>
              <a:off x="2679594" y="3607308"/>
              <a:ext cx="666707" cy="684565"/>
            </a:xfrm>
            <a:prstGeom prst="roundRect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8113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0513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561691" y="4260189"/>
              <a:ext cx="153619" cy="691286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310585" y="4260189"/>
              <a:ext cx="153619" cy="691286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561691" y="4893868"/>
              <a:ext cx="153619" cy="153619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3310585" y="4893868"/>
              <a:ext cx="153619" cy="153619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686507" y="4183380"/>
              <a:ext cx="652881" cy="979322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945739" y="4161297"/>
              <a:ext cx="134416" cy="153619"/>
            </a:xfrm>
            <a:prstGeom prst="rect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2697452" y="3595786"/>
              <a:ext cx="630990" cy="476219"/>
            </a:xfrm>
            <a:prstGeom prst="ellipse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2715310" y="3712921"/>
              <a:ext cx="595274" cy="559557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28641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27690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30945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31608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2945739" y="4068549"/>
              <a:ext cx="134416" cy="105613"/>
            </a:xfrm>
            <a:prstGeom prst="ellipse">
              <a:avLst/>
            </a:prstGeom>
            <a:solidFill>
              <a:srgbClr val="5A2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292858" y="5700369"/>
              <a:ext cx="1440180" cy="460857"/>
            </a:xfrm>
            <a:prstGeom prst="roundRect">
              <a:avLst/>
            </a:prstGeom>
            <a:solidFill>
              <a:srgbClr val="2B2B2B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FFFFFF"/>
                  </a:solidFill>
                  <a:latin typeface="Arial"/>
                </a:rPr>
                <a:t>Sarah</a:t>
              </a:r>
            </a:p>
            <a:p>
              <a:pPr algn="ctr"/>
              <a:r>
                <a:rPr sz="892">
                  <a:solidFill>
                    <a:srgbClr val="FFFFFF"/>
                  </a:solidFill>
                  <a:latin typeface="Arial"/>
                </a:rPr>
                <a:t>Product Owner</a:t>
              </a:r>
            </a:p>
          </p:txBody>
        </p:sp>
      </p:grpSp>
      <p:grpSp>
        <p:nvGrpSpPr>
          <p:cNvPr id="29" name="Karim"/>
          <p:cNvGrpSpPr/>
          <p:nvPr/>
        </p:nvGrpSpPr>
        <p:grpSpPr>
          <a:xfrm>
            <a:off x="4350258" y="3559302"/>
            <a:ext cx="1440180" cy="2601924"/>
            <a:chOff x="4350258" y="3559302"/>
            <a:chExt cx="1440180" cy="2601924"/>
          </a:xfrm>
        </p:grpSpPr>
        <p:sp>
          <p:nvSpPr>
            <p:cNvPr id="30" name="Rounded Rectangle 29"/>
            <p:cNvSpPr/>
            <p:nvPr/>
          </p:nvSpPr>
          <p:spPr>
            <a:xfrm>
              <a:off x="48687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51087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619091" y="4260189"/>
              <a:ext cx="153619" cy="691286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367985" y="4260189"/>
              <a:ext cx="153619" cy="691286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4619091" y="4893868"/>
              <a:ext cx="153619" cy="153619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5367985" y="4893868"/>
              <a:ext cx="153619" cy="153619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4743907" y="4183380"/>
              <a:ext cx="652881" cy="979322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003139" y="4161297"/>
              <a:ext cx="134416" cy="153619"/>
            </a:xfrm>
            <a:prstGeom prst="rect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4705502" y="3621709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4830318" y="3590505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4955133" y="3559302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5079949" y="3590505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5204764" y="3621709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772710" y="3712921"/>
              <a:ext cx="595274" cy="559557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49215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8264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51519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52182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Arc 47"/>
            <p:cNvSpPr/>
            <p:nvPr/>
          </p:nvSpPr>
          <p:spPr>
            <a:xfrm>
              <a:off x="4983937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4350258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Karim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Developer (IA)</a:t>
              </a:r>
            </a:p>
          </p:txBody>
        </p:sp>
      </p:grpSp>
      <p:grpSp>
        <p:nvGrpSpPr>
          <p:cNvPr id="50" name="Julie"/>
          <p:cNvGrpSpPr/>
          <p:nvPr/>
        </p:nvGrpSpPr>
        <p:grpSpPr>
          <a:xfrm>
            <a:off x="6407658" y="3595786"/>
            <a:ext cx="1440180" cy="2565440"/>
            <a:chOff x="6407658" y="3595786"/>
            <a:chExt cx="1440180" cy="2565440"/>
          </a:xfrm>
        </p:grpSpPr>
        <p:sp>
          <p:nvSpPr>
            <p:cNvPr id="51" name="Oval 50"/>
            <p:cNvSpPr/>
            <p:nvPr/>
          </p:nvSpPr>
          <p:spPr>
            <a:xfrm>
              <a:off x="7336094" y="3636111"/>
              <a:ext cx="192024" cy="403250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69261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1661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6676491" y="4260189"/>
              <a:ext cx="153619" cy="691286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7425385" y="4260189"/>
              <a:ext cx="153619" cy="691286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6676491" y="4893868"/>
              <a:ext cx="153619" cy="153619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425385" y="4893868"/>
              <a:ext cx="153619" cy="153619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6801307" y="4183380"/>
              <a:ext cx="652881" cy="979322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060539" y="4161297"/>
              <a:ext cx="134416" cy="153619"/>
            </a:xfrm>
            <a:prstGeom prst="rect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6812252" y="3595786"/>
              <a:ext cx="630990" cy="476219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6830110" y="3712921"/>
              <a:ext cx="595274" cy="559557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69789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68838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72093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72756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Arc 65"/>
            <p:cNvSpPr/>
            <p:nvPr/>
          </p:nvSpPr>
          <p:spPr>
            <a:xfrm>
              <a:off x="7041337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6407658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Julie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Developer (appli)</a:t>
              </a:r>
            </a:p>
          </p:txBody>
        </p:sp>
      </p:grpSp>
      <p:grpSp>
        <p:nvGrpSpPr>
          <p:cNvPr id="68" name="Mme Durand"/>
          <p:cNvGrpSpPr/>
          <p:nvPr/>
        </p:nvGrpSpPr>
        <p:grpSpPr>
          <a:xfrm>
            <a:off x="8465058" y="3463290"/>
            <a:ext cx="1440180" cy="2697936"/>
            <a:chOff x="8465058" y="3463290"/>
            <a:chExt cx="1440180" cy="2697936"/>
          </a:xfrm>
        </p:grpSpPr>
        <p:sp>
          <p:nvSpPr>
            <p:cNvPr id="69" name="Oval 68"/>
            <p:cNvSpPr/>
            <p:nvPr/>
          </p:nvSpPr>
          <p:spPr>
            <a:xfrm>
              <a:off x="9050731" y="3463290"/>
              <a:ext cx="268833" cy="268833"/>
            </a:xfrm>
            <a:prstGeom prst="ellipse">
              <a:avLst/>
            </a:prstGeom>
            <a:solidFill>
              <a:srgbClr val="8A8A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89835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92235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8733891" y="4260189"/>
              <a:ext cx="153619" cy="691286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9482785" y="4260189"/>
              <a:ext cx="153619" cy="691286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8733891" y="4893868"/>
              <a:ext cx="153619" cy="153619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9482785" y="4893868"/>
              <a:ext cx="153619" cy="153619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8858707" y="4183380"/>
              <a:ext cx="652881" cy="979322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9117939" y="4161297"/>
              <a:ext cx="134416" cy="153619"/>
            </a:xfrm>
            <a:prstGeom prst="rect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8869652" y="3595786"/>
              <a:ext cx="630990" cy="476219"/>
            </a:xfrm>
            <a:prstGeom prst="ellipse">
              <a:avLst/>
            </a:prstGeom>
            <a:solidFill>
              <a:srgbClr val="8A8A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87510" y="3712921"/>
              <a:ext cx="595274" cy="559557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90363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89412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92667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93330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8983522" y="3866924"/>
              <a:ext cx="172821" cy="172821"/>
            </a:xfrm>
            <a:prstGeom prst="ellipse">
              <a:avLst/>
            </a:prstGeom>
            <a:noFill/>
            <a:ln w="20002">
              <a:solidFill>
                <a:srgbClr val="2B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9213951" y="3866924"/>
              <a:ext cx="172821" cy="172821"/>
            </a:xfrm>
            <a:prstGeom prst="ellipse">
              <a:avLst/>
            </a:prstGeom>
            <a:noFill/>
            <a:ln w="20002">
              <a:solidFill>
                <a:srgbClr val="2B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Arc 85"/>
            <p:cNvSpPr/>
            <p:nvPr/>
          </p:nvSpPr>
          <p:spPr>
            <a:xfrm>
              <a:off x="9098737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8465058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Mme Durand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Professeure (partie prenante)</a:t>
              </a:r>
            </a:p>
          </p:txBody>
        </p:sp>
      </p:grpSp>
      <p:sp>
        <p:nvSpPr>
          <p:cNvPr id="88" name="Bulle Sarah"/>
          <p:cNvSpPr/>
          <p:nvPr/>
        </p:nvSpPr>
        <p:spPr>
          <a:xfrm>
            <a:off x="818388" y="2606040"/>
            <a:ext cx="4389120" cy="868680"/>
          </a:xfrm>
          <a:prstGeom prst="wedgeRoundRectCallout">
            <a:avLst>
              <a:gd name="adj1" fmla="val 0"/>
              <a:gd name="adj2" fmla="val 67894"/>
              <a:gd name="adj3" fmla="val 16667"/>
            </a:avLst>
          </a:prstGeom>
          <a:solidFill>
            <a:srgbClr val="FFFFFF"/>
          </a:solidFill>
          <a:ln w="28575">
            <a:solidFill>
              <a:srgbClr val="E86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E8615A"/>
                </a:solidFill>
                <a:latin typeface="Arial"/>
              </a:rPr>
              <a:t>Sarah</a:t>
            </a:r>
          </a:p>
          <a:p>
            <a:r>
              <a:rPr sz="1700">
                <a:solidFill>
                  <a:srgbClr val="2B2B2B"/>
                </a:solidFill>
                <a:latin typeface="Arial"/>
              </a:rPr>
              <a:t>Voici le prototype : le quiz et les premiers exercices adaptés.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5A45"/>
                </a:solidFill>
                <a:latin typeface="Arial"/>
              </a:rPr>
              <a:t>Fin du Sprint 1 : on montre le prototype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l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D9C7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enêtre"/>
          <p:cNvSpPr/>
          <p:nvPr/>
        </p:nvSpPr>
        <p:spPr>
          <a:xfrm>
            <a:off x="548640" y="502920"/>
            <a:ext cx="1737360" cy="1280160"/>
          </a:xfrm>
          <a:prstGeom prst="rect">
            <a:avLst/>
          </a:prstGeom>
          <a:solidFill>
            <a:srgbClr val="BFDDF2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dre tableau"/>
          <p:cNvSpPr/>
          <p:nvPr/>
        </p:nvSpPr>
        <p:spPr>
          <a:xfrm>
            <a:off x="3977639" y="320040"/>
            <a:ext cx="4251960" cy="2240280"/>
          </a:xfrm>
          <a:prstGeom prst="roundRect">
            <a:avLst/>
          </a:prstGeom>
          <a:solidFill>
            <a:srgbClr val="8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bleau"/>
          <p:cNvSpPr/>
          <p:nvPr/>
        </p:nvSpPr>
        <p:spPr>
          <a:xfrm>
            <a:off x="4087368" y="429768"/>
            <a:ext cx="4032504" cy="2020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87368" y="502920"/>
            <a:ext cx="4032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Arial"/>
              </a:rPr>
              <a:t>Scène 5 · Sprint Retrospective</a:t>
            </a:r>
          </a:p>
        </p:txBody>
      </p:sp>
      <p:sp>
        <p:nvSpPr>
          <p:cNvPr id="7" name="Post-it"/>
          <p:cNvSpPr/>
          <p:nvPr/>
        </p:nvSpPr>
        <p:spPr>
          <a:xfrm>
            <a:off x="4343400" y="1188720"/>
            <a:ext cx="1051560" cy="685800"/>
          </a:xfrm>
          <a:prstGeom prst="rect">
            <a:avLst/>
          </a:prstGeom>
          <a:solidFill>
            <a:srgbClr val="B8E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Daily +</a:t>
            </a:r>
          </a:p>
        </p:txBody>
      </p:sp>
      <p:sp>
        <p:nvSpPr>
          <p:cNvPr id="8" name="Post-it"/>
          <p:cNvSpPr/>
          <p:nvPr/>
        </p:nvSpPr>
        <p:spPr>
          <a:xfrm>
            <a:off x="5577840" y="1188720"/>
            <a:ext cx="1051560" cy="685800"/>
          </a:xfrm>
          <a:prstGeom prst="rect">
            <a:avLst/>
          </a:prstGeom>
          <a:solidFill>
            <a:srgbClr val="FF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Données -</a:t>
            </a:r>
          </a:p>
        </p:txBody>
      </p:sp>
      <p:sp>
        <p:nvSpPr>
          <p:cNvPr id="9" name="Pot"/>
          <p:cNvSpPr/>
          <p:nvPr/>
        </p:nvSpPr>
        <p:spPr>
          <a:xfrm>
            <a:off x="11292840" y="4754880"/>
            <a:ext cx="384048" cy="594360"/>
          </a:xfrm>
          <a:prstGeom prst="roundRect">
            <a:avLst/>
          </a:prstGeom>
          <a:solidFill>
            <a:srgbClr val="B5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lante"/>
          <p:cNvSpPr/>
          <p:nvPr/>
        </p:nvSpPr>
        <p:spPr>
          <a:xfrm>
            <a:off x="10972800" y="3886200"/>
            <a:ext cx="1005840" cy="960120"/>
          </a:xfrm>
          <a:prstGeom prst="ellipse">
            <a:avLst/>
          </a:prstGeom>
          <a:solidFill>
            <a:srgbClr val="4E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" name="Sarah"/>
          <p:cNvGrpSpPr/>
          <p:nvPr/>
        </p:nvGrpSpPr>
        <p:grpSpPr>
          <a:xfrm>
            <a:off x="2292858" y="3595786"/>
            <a:ext cx="1440180" cy="2565440"/>
            <a:chOff x="2292858" y="3595786"/>
            <a:chExt cx="1440180" cy="2565440"/>
          </a:xfrm>
        </p:grpSpPr>
        <p:sp>
          <p:nvSpPr>
            <p:cNvPr id="12" name="Rounded Rectangle 11"/>
            <p:cNvSpPr/>
            <p:nvPr/>
          </p:nvSpPr>
          <p:spPr>
            <a:xfrm>
              <a:off x="2679594" y="3607308"/>
              <a:ext cx="666707" cy="684565"/>
            </a:xfrm>
            <a:prstGeom prst="roundRect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8113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0513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561691" y="4260189"/>
              <a:ext cx="153619" cy="691286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310585" y="4260189"/>
              <a:ext cx="153619" cy="691286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561691" y="4893868"/>
              <a:ext cx="153619" cy="153619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3310585" y="4893868"/>
              <a:ext cx="153619" cy="153619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686507" y="4183380"/>
              <a:ext cx="652881" cy="979322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945739" y="4161297"/>
              <a:ext cx="134416" cy="153619"/>
            </a:xfrm>
            <a:prstGeom prst="rect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2697452" y="3595786"/>
              <a:ext cx="630990" cy="476219"/>
            </a:xfrm>
            <a:prstGeom prst="ellipse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2715310" y="3712921"/>
              <a:ext cx="595274" cy="559557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28641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27690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30945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31608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Arc 26"/>
            <p:cNvSpPr/>
            <p:nvPr/>
          </p:nvSpPr>
          <p:spPr>
            <a:xfrm>
              <a:off x="2926537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292858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Sarah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Product Owner</a:t>
              </a:r>
            </a:p>
          </p:txBody>
        </p:sp>
      </p:grpSp>
      <p:grpSp>
        <p:nvGrpSpPr>
          <p:cNvPr id="29" name="Lucien"/>
          <p:cNvGrpSpPr/>
          <p:nvPr/>
        </p:nvGrpSpPr>
        <p:grpSpPr>
          <a:xfrm>
            <a:off x="4350258" y="3595786"/>
            <a:ext cx="1440180" cy="2565440"/>
            <a:chOff x="4350258" y="3595786"/>
            <a:chExt cx="1440180" cy="2565440"/>
          </a:xfrm>
        </p:grpSpPr>
        <p:sp>
          <p:nvSpPr>
            <p:cNvPr id="30" name="Rounded Rectangle 29"/>
            <p:cNvSpPr/>
            <p:nvPr/>
          </p:nvSpPr>
          <p:spPr>
            <a:xfrm>
              <a:off x="48687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51087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619091" y="4260189"/>
              <a:ext cx="153619" cy="691286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367985" y="4260189"/>
              <a:ext cx="153619" cy="691286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4619091" y="4893868"/>
              <a:ext cx="153619" cy="153619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5367985" y="4893868"/>
              <a:ext cx="153619" cy="153619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4743907" y="4183380"/>
              <a:ext cx="652881" cy="979322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003139" y="4161297"/>
              <a:ext cx="134416" cy="153619"/>
            </a:xfrm>
            <a:prstGeom prst="rect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4754852" y="3595786"/>
              <a:ext cx="630990" cy="476219"/>
            </a:xfrm>
            <a:prstGeom prst="ellipse">
              <a:avLst/>
            </a:prstGeom>
            <a:solidFill>
              <a:srgbClr val="1E1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4772710" y="3712921"/>
              <a:ext cx="595274" cy="559557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49215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8264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51519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52182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003139" y="4068549"/>
              <a:ext cx="134416" cy="105613"/>
            </a:xfrm>
            <a:prstGeom prst="ellipse">
              <a:avLst/>
            </a:prstGeom>
            <a:solidFill>
              <a:srgbClr val="5A2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4350258" y="5700369"/>
              <a:ext cx="1440180" cy="460857"/>
            </a:xfrm>
            <a:prstGeom prst="roundRect">
              <a:avLst/>
            </a:prstGeom>
            <a:solidFill>
              <a:srgbClr val="2B2B2B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FFFFFF"/>
                  </a:solidFill>
                  <a:latin typeface="Arial"/>
                </a:rPr>
                <a:t>Lucien</a:t>
              </a:r>
            </a:p>
            <a:p>
              <a:pPr algn="ctr"/>
              <a:r>
                <a:rPr sz="892">
                  <a:solidFill>
                    <a:srgbClr val="FFFFFF"/>
                  </a:solidFill>
                  <a:latin typeface="Arial"/>
                </a:rPr>
                <a:t>Scrum Master</a:t>
              </a:r>
            </a:p>
          </p:txBody>
        </p:sp>
      </p:grpSp>
      <p:grpSp>
        <p:nvGrpSpPr>
          <p:cNvPr id="46" name="Karim"/>
          <p:cNvGrpSpPr/>
          <p:nvPr/>
        </p:nvGrpSpPr>
        <p:grpSpPr>
          <a:xfrm>
            <a:off x="6407658" y="3559302"/>
            <a:ext cx="1440180" cy="2601924"/>
            <a:chOff x="6407658" y="3559302"/>
            <a:chExt cx="1440180" cy="2601924"/>
          </a:xfrm>
        </p:grpSpPr>
        <p:sp>
          <p:nvSpPr>
            <p:cNvPr id="47" name="Rounded Rectangle 46"/>
            <p:cNvSpPr/>
            <p:nvPr/>
          </p:nvSpPr>
          <p:spPr>
            <a:xfrm>
              <a:off x="69261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71661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6676491" y="4260189"/>
              <a:ext cx="153619" cy="691286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7425385" y="4260189"/>
              <a:ext cx="153619" cy="691286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6676491" y="4893868"/>
              <a:ext cx="153619" cy="153619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7425385" y="4893868"/>
              <a:ext cx="153619" cy="153619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6801307" y="4183380"/>
              <a:ext cx="652881" cy="979322"/>
            </a:xfrm>
            <a:prstGeom prst="roundRect">
              <a:avLst/>
            </a:prstGeom>
            <a:solidFill>
              <a:srgbClr val="3BA2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060539" y="4161297"/>
              <a:ext cx="134416" cy="153619"/>
            </a:xfrm>
            <a:prstGeom prst="rect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6762902" y="3621709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6887718" y="3590505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012533" y="3559302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7137349" y="3590505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7262164" y="3621709"/>
              <a:ext cx="230428" cy="230428"/>
            </a:xfrm>
            <a:prstGeom prst="ellipse">
              <a:avLst/>
            </a:prstGeom>
            <a:solidFill>
              <a:srgbClr val="2B2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6830110" y="3712921"/>
              <a:ext cx="595274" cy="559557"/>
            </a:xfrm>
            <a:prstGeom prst="ellipse">
              <a:avLst/>
            </a:prstGeom>
            <a:solidFill>
              <a:srgbClr val="C68E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69789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68838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72093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72756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Arc 64"/>
            <p:cNvSpPr/>
            <p:nvPr/>
          </p:nvSpPr>
          <p:spPr>
            <a:xfrm>
              <a:off x="7041337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6407658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Karim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Developer (IA)</a:t>
              </a:r>
            </a:p>
          </p:txBody>
        </p:sp>
      </p:grpSp>
      <p:grpSp>
        <p:nvGrpSpPr>
          <p:cNvPr id="67" name="Julie"/>
          <p:cNvGrpSpPr/>
          <p:nvPr/>
        </p:nvGrpSpPr>
        <p:grpSpPr>
          <a:xfrm>
            <a:off x="8465058" y="3595786"/>
            <a:ext cx="1440180" cy="2565440"/>
            <a:chOff x="8465058" y="3595786"/>
            <a:chExt cx="1440180" cy="2565440"/>
          </a:xfrm>
        </p:grpSpPr>
        <p:sp>
          <p:nvSpPr>
            <p:cNvPr id="68" name="Oval 67"/>
            <p:cNvSpPr/>
            <p:nvPr/>
          </p:nvSpPr>
          <p:spPr>
            <a:xfrm>
              <a:off x="9393494" y="3636111"/>
              <a:ext cx="192024" cy="403250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89835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92235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733891" y="4260189"/>
              <a:ext cx="153619" cy="691286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9482785" y="4260189"/>
              <a:ext cx="153619" cy="691286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733891" y="4893868"/>
              <a:ext cx="153619" cy="153619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9482785" y="4893868"/>
              <a:ext cx="153619" cy="153619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8858707" y="4183380"/>
              <a:ext cx="652881" cy="979322"/>
            </a:xfrm>
            <a:prstGeom prst="roundRect">
              <a:avLst/>
            </a:prstGeom>
            <a:solidFill>
              <a:srgbClr val="8E6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9117939" y="4161297"/>
              <a:ext cx="134416" cy="153619"/>
            </a:xfrm>
            <a:prstGeom prst="rect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8869652" y="3595786"/>
              <a:ext cx="630990" cy="476219"/>
            </a:xfrm>
            <a:prstGeom prst="ellipse">
              <a:avLst/>
            </a:prstGeom>
            <a:solidFill>
              <a:srgbClr val="C986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8887510" y="3712921"/>
              <a:ext cx="595274" cy="559557"/>
            </a:xfrm>
            <a:prstGeom prst="ellipse">
              <a:avLst/>
            </a:prstGeom>
            <a:solidFill>
              <a:srgbClr val="F6D7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90363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89412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92667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93330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Arc 82"/>
            <p:cNvSpPr/>
            <p:nvPr/>
          </p:nvSpPr>
          <p:spPr>
            <a:xfrm>
              <a:off x="9098737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8465058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Julie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Developer (appli)</a:t>
              </a:r>
            </a:p>
          </p:txBody>
        </p:sp>
      </p:grpSp>
      <p:sp>
        <p:nvSpPr>
          <p:cNvPr id="85" name="Bulle Lucien"/>
          <p:cNvSpPr/>
          <p:nvPr/>
        </p:nvSpPr>
        <p:spPr>
          <a:xfrm>
            <a:off x="2875788" y="2606040"/>
            <a:ext cx="4389120" cy="868680"/>
          </a:xfrm>
          <a:prstGeom prst="wedgeRoundRectCallout">
            <a:avLst>
              <a:gd name="adj1" fmla="val 0"/>
              <a:gd name="adj2" fmla="val 67894"/>
              <a:gd name="adj3" fmla="val 16667"/>
            </a:avLst>
          </a:prstGeom>
          <a:solidFill>
            <a:srgbClr val="FFFFFF"/>
          </a:solidFill>
          <a:ln w="285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2E75B6"/>
                </a:solidFill>
                <a:latin typeface="Arial"/>
              </a:rPr>
              <a:t>Lucien</a:t>
            </a:r>
          </a:p>
          <a:p>
            <a:r>
              <a:rPr sz="1700">
                <a:solidFill>
                  <a:srgbClr val="2B2B2B"/>
                </a:solidFill>
                <a:latin typeface="Arial"/>
              </a:rPr>
              <a:t>Qu'est-ce qui a bien marché ? Qu'est-ce qu'on améliore ?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5A45"/>
                </a:solidFill>
                <a:latin typeface="Arial"/>
              </a:rPr>
              <a:t>Comment mieux travailler au prochain Sprint 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l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D9C7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enêtre"/>
          <p:cNvSpPr/>
          <p:nvPr/>
        </p:nvSpPr>
        <p:spPr>
          <a:xfrm>
            <a:off x="548640" y="502920"/>
            <a:ext cx="1737360" cy="1280160"/>
          </a:xfrm>
          <a:prstGeom prst="rect">
            <a:avLst/>
          </a:prstGeom>
          <a:solidFill>
            <a:srgbClr val="BFDDF2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dre tableau"/>
          <p:cNvSpPr/>
          <p:nvPr/>
        </p:nvSpPr>
        <p:spPr>
          <a:xfrm>
            <a:off x="3977639" y="320040"/>
            <a:ext cx="4251960" cy="2240280"/>
          </a:xfrm>
          <a:prstGeom prst="roundRect">
            <a:avLst/>
          </a:prstGeom>
          <a:solidFill>
            <a:srgbClr val="8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bleau"/>
          <p:cNvSpPr/>
          <p:nvPr/>
        </p:nvSpPr>
        <p:spPr>
          <a:xfrm>
            <a:off x="4087368" y="429768"/>
            <a:ext cx="4032504" cy="2020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87368" y="502920"/>
            <a:ext cx="4032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Arial"/>
              </a:rPr>
              <a:t>Scène 6 · Livraison et évaluation</a:t>
            </a:r>
          </a:p>
        </p:txBody>
      </p:sp>
      <p:sp>
        <p:nvSpPr>
          <p:cNvPr id="7" name="Post-it"/>
          <p:cNvSpPr/>
          <p:nvPr/>
        </p:nvSpPr>
        <p:spPr>
          <a:xfrm>
            <a:off x="4343400" y="1188720"/>
            <a:ext cx="1051560" cy="685800"/>
          </a:xfrm>
          <a:prstGeom prst="rect">
            <a:avLst/>
          </a:prstGeom>
          <a:solidFill>
            <a:srgbClr val="B8E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+12 pts</a:t>
            </a:r>
          </a:p>
        </p:txBody>
      </p:sp>
      <p:sp>
        <p:nvSpPr>
          <p:cNvPr id="8" name="Pot"/>
          <p:cNvSpPr/>
          <p:nvPr/>
        </p:nvSpPr>
        <p:spPr>
          <a:xfrm>
            <a:off x="11292840" y="4754880"/>
            <a:ext cx="384048" cy="594360"/>
          </a:xfrm>
          <a:prstGeom prst="roundRect">
            <a:avLst/>
          </a:prstGeom>
          <a:solidFill>
            <a:srgbClr val="B5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lante"/>
          <p:cNvSpPr/>
          <p:nvPr/>
        </p:nvSpPr>
        <p:spPr>
          <a:xfrm>
            <a:off x="10972800" y="3886200"/>
            <a:ext cx="1005840" cy="960120"/>
          </a:xfrm>
          <a:prstGeom prst="ellipse">
            <a:avLst/>
          </a:prstGeom>
          <a:solidFill>
            <a:srgbClr val="4E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Sarah"/>
          <p:cNvGrpSpPr/>
          <p:nvPr/>
        </p:nvGrpSpPr>
        <p:grpSpPr>
          <a:xfrm>
            <a:off x="3321558" y="3595786"/>
            <a:ext cx="1440180" cy="2565440"/>
            <a:chOff x="3321558" y="3595786"/>
            <a:chExt cx="1440180" cy="2565440"/>
          </a:xfrm>
        </p:grpSpPr>
        <p:sp>
          <p:nvSpPr>
            <p:cNvPr id="11" name="Rounded Rectangle 10"/>
            <p:cNvSpPr/>
            <p:nvPr/>
          </p:nvSpPr>
          <p:spPr>
            <a:xfrm>
              <a:off x="3708294" y="3607308"/>
              <a:ext cx="666707" cy="684565"/>
            </a:xfrm>
            <a:prstGeom prst="roundRect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8400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0800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590391" y="4260189"/>
              <a:ext cx="153619" cy="691286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339285" y="4260189"/>
              <a:ext cx="153619" cy="691286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3590391" y="4893868"/>
              <a:ext cx="153619" cy="153619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4339285" y="4893868"/>
              <a:ext cx="153619" cy="153619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715207" y="4183380"/>
              <a:ext cx="652881" cy="979322"/>
            </a:xfrm>
            <a:prstGeom prst="roundRect">
              <a:avLst/>
            </a:prstGeom>
            <a:solidFill>
              <a:srgbClr val="E861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974439" y="4161297"/>
              <a:ext cx="134416" cy="153619"/>
            </a:xfrm>
            <a:prstGeom prst="rect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3726152" y="3595786"/>
              <a:ext cx="630990" cy="476219"/>
            </a:xfrm>
            <a:prstGeom prst="ellipse">
              <a:avLst/>
            </a:prstGeom>
            <a:solidFill>
              <a:srgbClr val="5A38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3744010" y="3712921"/>
              <a:ext cx="595274" cy="559557"/>
            </a:xfrm>
            <a:prstGeom prst="ellipse">
              <a:avLst/>
            </a:prstGeom>
            <a:solidFill>
              <a:srgbClr val="F2C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38928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37977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41232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41895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3974439" y="4068549"/>
              <a:ext cx="134416" cy="105613"/>
            </a:xfrm>
            <a:prstGeom prst="ellipse">
              <a:avLst/>
            </a:prstGeom>
            <a:solidFill>
              <a:srgbClr val="5A2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321558" y="5700369"/>
              <a:ext cx="1440180" cy="460857"/>
            </a:xfrm>
            <a:prstGeom prst="roundRect">
              <a:avLst/>
            </a:prstGeom>
            <a:solidFill>
              <a:srgbClr val="2B2B2B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FFFFFF"/>
                  </a:solidFill>
                  <a:latin typeface="Arial"/>
                </a:rPr>
                <a:t>Sarah</a:t>
              </a:r>
            </a:p>
            <a:p>
              <a:pPr algn="ctr"/>
              <a:r>
                <a:rPr sz="892">
                  <a:solidFill>
                    <a:srgbClr val="FFFFFF"/>
                  </a:solidFill>
                  <a:latin typeface="Arial"/>
                </a:rPr>
                <a:t>Product Owner</a:t>
              </a:r>
            </a:p>
          </p:txBody>
        </p:sp>
      </p:grpSp>
      <p:grpSp>
        <p:nvGrpSpPr>
          <p:cNvPr id="28" name="Lucien"/>
          <p:cNvGrpSpPr/>
          <p:nvPr/>
        </p:nvGrpSpPr>
        <p:grpSpPr>
          <a:xfrm>
            <a:off x="5378958" y="3595786"/>
            <a:ext cx="1440180" cy="2565440"/>
            <a:chOff x="5378958" y="3595786"/>
            <a:chExt cx="1440180" cy="2565440"/>
          </a:xfrm>
        </p:grpSpPr>
        <p:sp>
          <p:nvSpPr>
            <p:cNvPr id="29" name="Rounded Rectangle 28"/>
            <p:cNvSpPr/>
            <p:nvPr/>
          </p:nvSpPr>
          <p:spPr>
            <a:xfrm>
              <a:off x="58974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1374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5647791" y="4260189"/>
              <a:ext cx="153619" cy="691286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396685" y="4260189"/>
              <a:ext cx="153619" cy="691286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5647791" y="4893868"/>
              <a:ext cx="153619" cy="153619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6396685" y="4893868"/>
              <a:ext cx="153619" cy="153619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772607" y="4183380"/>
              <a:ext cx="652881" cy="979322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031839" y="4161297"/>
              <a:ext cx="134416" cy="153619"/>
            </a:xfrm>
            <a:prstGeom prst="rect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5783552" y="3595786"/>
              <a:ext cx="630990" cy="476219"/>
            </a:xfrm>
            <a:prstGeom prst="ellipse">
              <a:avLst/>
            </a:prstGeom>
            <a:solidFill>
              <a:srgbClr val="1E1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5801410" y="3712921"/>
              <a:ext cx="595274" cy="559557"/>
            </a:xfrm>
            <a:prstGeom prst="ellipse">
              <a:avLst/>
            </a:prstGeom>
            <a:solidFill>
              <a:srgbClr val="8D5A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59502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8551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61806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62469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Arc 42"/>
            <p:cNvSpPr/>
            <p:nvPr/>
          </p:nvSpPr>
          <p:spPr>
            <a:xfrm>
              <a:off x="6012637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5378958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Lucien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Scrum Master</a:t>
              </a:r>
            </a:p>
          </p:txBody>
        </p:sp>
      </p:grpSp>
      <p:grpSp>
        <p:nvGrpSpPr>
          <p:cNvPr id="45" name="Mme Durand"/>
          <p:cNvGrpSpPr/>
          <p:nvPr/>
        </p:nvGrpSpPr>
        <p:grpSpPr>
          <a:xfrm>
            <a:off x="7436358" y="3463290"/>
            <a:ext cx="1440180" cy="2697936"/>
            <a:chOff x="7436358" y="3463290"/>
            <a:chExt cx="1440180" cy="2697936"/>
          </a:xfrm>
        </p:grpSpPr>
        <p:sp>
          <p:nvSpPr>
            <p:cNvPr id="46" name="Oval 45"/>
            <p:cNvSpPr/>
            <p:nvPr/>
          </p:nvSpPr>
          <p:spPr>
            <a:xfrm>
              <a:off x="8022031" y="3463290"/>
              <a:ext cx="268833" cy="268833"/>
            </a:xfrm>
            <a:prstGeom prst="ellipse">
              <a:avLst/>
            </a:prstGeom>
            <a:solidFill>
              <a:srgbClr val="8A8A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795482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8194852" y="5095494"/>
              <a:ext cx="163220" cy="528066"/>
            </a:xfrm>
            <a:prstGeom prst="roundRect">
              <a:avLst/>
            </a:prstGeom>
            <a:solidFill>
              <a:srgbClr val="3A3F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705191" y="4260189"/>
              <a:ext cx="153619" cy="691286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8454085" y="4260189"/>
              <a:ext cx="153619" cy="691286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7705191" y="4893868"/>
              <a:ext cx="153619" cy="153619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8454085" y="4893868"/>
              <a:ext cx="153619" cy="153619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830007" y="4183380"/>
              <a:ext cx="652881" cy="979322"/>
            </a:xfrm>
            <a:prstGeom prst="roundRect">
              <a:avLst/>
            </a:prstGeom>
            <a:solidFill>
              <a:srgbClr val="E3A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089239" y="4161297"/>
              <a:ext cx="134416" cy="153619"/>
            </a:xfrm>
            <a:prstGeom prst="rect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7840952" y="3595786"/>
              <a:ext cx="630990" cy="476219"/>
            </a:xfrm>
            <a:prstGeom prst="ellipse">
              <a:avLst/>
            </a:prstGeom>
            <a:solidFill>
              <a:srgbClr val="8A8A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7858810" y="3712921"/>
              <a:ext cx="595274" cy="559557"/>
            </a:xfrm>
            <a:prstGeom prst="ellipse">
              <a:avLst/>
            </a:prstGeom>
            <a:solidFill>
              <a:srgbClr val="EBC0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8007629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7912577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8238058" y="3905329"/>
              <a:ext cx="67208" cy="96012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8304306" y="4020543"/>
              <a:ext cx="96012" cy="67208"/>
            </a:xfrm>
            <a:prstGeom prst="ellipse">
              <a:avLst/>
            </a:prstGeom>
            <a:solidFill>
              <a:srgbClr val="F2A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7954822" y="3866924"/>
              <a:ext cx="172821" cy="172821"/>
            </a:xfrm>
            <a:prstGeom prst="ellipse">
              <a:avLst/>
            </a:prstGeom>
            <a:noFill/>
            <a:ln w="20002">
              <a:solidFill>
                <a:srgbClr val="2B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8185251" y="3866924"/>
              <a:ext cx="172821" cy="172821"/>
            </a:xfrm>
            <a:prstGeom prst="ellipse">
              <a:avLst/>
            </a:prstGeom>
            <a:noFill/>
            <a:ln w="20002">
              <a:solidFill>
                <a:srgbClr val="2B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Arc 62"/>
            <p:cNvSpPr/>
            <p:nvPr/>
          </p:nvSpPr>
          <p:spPr>
            <a:xfrm>
              <a:off x="8070037" y="3962936"/>
              <a:ext cx="172821" cy="153619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6670">
              <a:solidFill>
                <a:srgbClr val="5A2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7436358" y="5700369"/>
              <a:ext cx="1440180" cy="460857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0D5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tIns="0" bIns="0"/>
            <a:lstStyle/>
            <a:p>
              <a:pPr algn="ctr"/>
              <a:r>
                <a:rPr sz="1260" b="1">
                  <a:solidFill>
                    <a:srgbClr val="2B2B2B"/>
                  </a:solidFill>
                  <a:latin typeface="Arial"/>
                </a:rPr>
                <a:t>Mme Durand</a:t>
              </a:r>
            </a:p>
            <a:p>
              <a:pPr algn="ctr"/>
              <a:r>
                <a:rPr sz="892">
                  <a:solidFill>
                    <a:srgbClr val="5B6573"/>
                  </a:solidFill>
                  <a:latin typeface="Arial"/>
                </a:rPr>
                <a:t>Professeure (partie prenante)</a:t>
              </a:r>
            </a:p>
          </p:txBody>
        </p:sp>
      </p:grpSp>
      <p:sp>
        <p:nvSpPr>
          <p:cNvPr id="65" name="Bulle Sarah"/>
          <p:cNvSpPr/>
          <p:nvPr/>
        </p:nvSpPr>
        <p:spPr>
          <a:xfrm>
            <a:off x="1847088" y="2606040"/>
            <a:ext cx="4389120" cy="868680"/>
          </a:xfrm>
          <a:prstGeom prst="wedgeRoundRectCallout">
            <a:avLst>
              <a:gd name="adj1" fmla="val 0"/>
              <a:gd name="adj2" fmla="val 67894"/>
              <a:gd name="adj3" fmla="val 16667"/>
            </a:avLst>
          </a:prstGeom>
          <a:solidFill>
            <a:srgbClr val="FFFFFF"/>
          </a:solidFill>
          <a:ln w="28575">
            <a:solidFill>
              <a:srgbClr val="E86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E8615A"/>
                </a:solidFill>
                <a:latin typeface="Arial"/>
              </a:rPr>
              <a:t>Sarah</a:t>
            </a:r>
          </a:p>
          <a:p>
            <a:r>
              <a:rPr sz="1700">
                <a:solidFill>
                  <a:srgbClr val="2B2B2B"/>
                </a:solidFill>
                <a:latin typeface="Arial"/>
              </a:rPr>
              <a:t>Après 2 Sprints, MonTuteur IA est livré à la classe de Mme Durand.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5A45"/>
                </a:solidFill>
                <a:latin typeface="Arial"/>
              </a:rPr>
              <a:t>Après 2 Sprints : test dans une classe pilote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La pièce en vidéo</a:t>
            </a:r>
          </a:p>
        </p:txBody>
      </p:sp>
      <p:pic>
        <p:nvPicPr>
          <p:cNvPr id="3" name="MonTuteur_IA_Scrum_en_theatr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7048" y="109728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FC6CF"/>
                </a:solidFill>
                <a:latin typeface="Arial"/>
              </a:rPr>
              <a:t>6 scènes · environ 3 minutes · cliquer sur la vidéo pour la lancer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Arial"/>
              </a:rPr>
              <a:t>Pourquoi l'utiliser pour nos projets 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611630"/>
            <a:ext cx="388620" cy="388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143560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Arial"/>
              </a:rPr>
              <a:t>On sait où on en 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47088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Arial"/>
              </a:rPr>
              <a:t>Le tableau montre ce qui est fait et ce qui reste.</a:t>
            </a:r>
          </a:p>
        </p:txBody>
      </p:sp>
      <p:sp>
        <p:nvSpPr>
          <p:cNvPr id="7" name="Oval 6"/>
          <p:cNvSpPr/>
          <p:nvPr/>
        </p:nvSpPr>
        <p:spPr>
          <a:xfrm>
            <a:off x="6172200" y="1417320"/>
            <a:ext cx="777240" cy="777240"/>
          </a:xfrm>
          <a:prstGeom prst="ellipse">
            <a:avLst/>
          </a:prstGeom>
          <a:solidFill>
            <a:srgbClr val="E3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510" y="1611630"/>
            <a:ext cx="388620" cy="3886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8040" y="143560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Arial"/>
              </a:rPr>
              <a:t>On s'adapte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47088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Arial"/>
              </a:rPr>
              <a:t>Si les consignes changent, on change les priorités.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017520"/>
            <a:ext cx="777240" cy="777240"/>
          </a:xfrm>
          <a:prstGeom prst="ellipse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211829"/>
            <a:ext cx="388620" cy="3886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303580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Arial"/>
              </a:rPr>
              <a:t>On livre à chaque étape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47287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Arial"/>
              </a:rPr>
              <a:t>Toujours une version qui fonctionne.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017520"/>
            <a:ext cx="777240" cy="777240"/>
          </a:xfrm>
          <a:prstGeom prst="ellipse">
            <a:avLst/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510" y="3211829"/>
            <a:ext cx="388620" cy="3886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78040" y="303580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Arial"/>
              </a:rPr>
              <a:t>On communique mieux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447287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Arial"/>
              </a:rPr>
              <a:t>15 minutes par jour pour voir les blocages.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617720"/>
            <a:ext cx="777240" cy="777240"/>
          </a:xfrm>
          <a:prstGeom prst="ellipse">
            <a:avLst/>
          </a:prstGeom>
          <a:solidFill>
            <a:srgbClr val="8E6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et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4812030"/>
            <a:ext cx="388620" cy="3886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4480" y="4636007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Arial"/>
              </a:rPr>
              <a:t>On progresse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047488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Arial"/>
              </a:rPr>
              <a:t>La rétrospective corrige nos erreurs.</a:t>
            </a:r>
          </a:p>
        </p:txBody>
      </p:sp>
      <p:sp>
        <p:nvSpPr>
          <p:cNvPr id="23" name="Oval 22"/>
          <p:cNvSpPr/>
          <p:nvPr/>
        </p:nvSpPr>
        <p:spPr>
          <a:xfrm>
            <a:off x="6172200" y="4617720"/>
            <a:ext cx="777240" cy="77724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iefc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6510" y="4812030"/>
            <a:ext cx="388620" cy="3886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78040" y="4636007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Arial"/>
              </a:rPr>
              <a:t>Utile en alternance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5047488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Arial"/>
              </a:rPr>
              <a:t>Scrum est très utilisé en entreprise.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Les bénéfices mesurables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FD3E6"/>
                </a:solidFill>
                <a:latin typeface="Arial"/>
              </a:rPr>
              <a:t>Projets agiles vs projets en cascade (Standish Group, CHAOS Report 2015)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00200"/>
          <a:ext cx="6035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0" y="1600200"/>
            <a:ext cx="2377440" cy="1965960"/>
          </a:xfrm>
          <a:prstGeom prst="roundRect">
            <a:avLst/>
          </a:prstGeom>
          <a:solidFill>
            <a:srgbClr val="18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0" y="178308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7FD1A0"/>
                </a:solidFill>
                <a:latin typeface="Arial"/>
              </a:rPr>
              <a:t>x 3,5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plus de projets réussis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9718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BFD3E6"/>
                </a:solidFill>
                <a:latin typeface="Arial"/>
              </a:rPr>
              <a:t>39 % contre 11 %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1600200"/>
            <a:ext cx="2377440" cy="1965960"/>
          </a:xfrm>
          <a:prstGeom prst="roundRect">
            <a:avLst/>
          </a:prstGeom>
          <a:solidFill>
            <a:srgbClr val="18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178308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7FD1A0"/>
                </a:solidFill>
                <a:latin typeface="Arial"/>
              </a:rPr>
              <a:t>÷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moins de projets échoués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9718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BFD3E6"/>
                </a:solidFill>
                <a:latin typeface="Arial"/>
              </a:rPr>
              <a:t>9 % contre 29 %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840480"/>
            <a:ext cx="2377440" cy="1965960"/>
          </a:xfrm>
          <a:prstGeom prst="roundRect">
            <a:avLst/>
          </a:prstGeom>
          <a:solidFill>
            <a:srgbClr val="18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402336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D27A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754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Increments livrés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52120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BFD3E6"/>
                </a:solidFill>
                <a:latin typeface="Arial"/>
              </a:rPr>
              <a:t>dans notre cas, en 2 Sprints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3840480"/>
            <a:ext cx="2377440" cy="1965960"/>
          </a:xfrm>
          <a:prstGeom prst="roundRect">
            <a:avLst/>
          </a:prstGeom>
          <a:solidFill>
            <a:srgbClr val="18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402336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D27A"/>
                </a:solidFill>
                <a:latin typeface="Arial"/>
              </a:rPr>
              <a:t>1 jour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754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pour lever un blocage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52120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BFD3E6"/>
                </a:solidFill>
                <a:latin typeface="Arial"/>
              </a:rPr>
              <a:t>grâce au Daily Scrum (cas)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FD3E6"/>
                </a:solidFill>
                <a:latin typeface="Arial"/>
              </a:rPr>
              <a:t>Les deux derniers chiffres viennent de notre simulation, pas d'une étude.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